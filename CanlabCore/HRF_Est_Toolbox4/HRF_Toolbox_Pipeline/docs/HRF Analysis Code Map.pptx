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5" r:id="rId12"/>
    <p:sldId id="268" r:id="rId13"/>
    <p:sldId id="269" r:id="rId14"/>
    <p:sldId id="270" r:id="rId15"/>
    <p:sldId id="3746" r:id="rId16"/>
    <p:sldId id="3747" r:id="rId17"/>
    <p:sldId id="3749" r:id="rId18"/>
    <p:sldId id="3750" r:id="rId19"/>
    <p:sldId id="3751" r:id="rId20"/>
    <p:sldId id="3748" r:id="rId21"/>
    <p:sldId id="3752" r:id="rId22"/>
    <p:sldId id="3753" r:id="rId23"/>
    <p:sldId id="3754" r:id="rId24"/>
    <p:sldId id="3755" r:id="rId25"/>
    <p:sldId id="3756" r:id="rId26"/>
    <p:sldId id="3757" r:id="rId27"/>
    <p:sldId id="3758" r:id="rId28"/>
    <p:sldId id="3759" r:id="rId29"/>
    <p:sldId id="376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9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0E422-6F7F-0B9A-0CF4-59E0EC882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50581-AE96-511E-4F69-C3DA0F73D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44D81-985A-8CCF-7D25-4268D25BC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73D26-365A-3FAC-461C-3B344862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5F5110-2FBC-01C7-6AF4-D33EA88E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80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EA3E-41A2-D4CA-55E0-8FA304931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D7F4B-B743-6228-C783-7D6EC509F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5E170-56FC-18AC-CF69-CF0D5D30E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5EA7BC-6CD3-3AA5-D32F-F13D456C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1BF95-521E-FBEC-0976-BC5D56A24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57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F5C28-7671-8A6C-3669-B19F787E1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E8F00-7597-E602-5385-1F78BEA77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143A9-FB6E-0BB8-513B-531A325D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4D157-D5C8-3B59-6E17-E9E993C8D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A609E-669B-5712-2774-257E818D8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578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7F9EA-D3F5-B5FB-9231-413C405AB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30DCB-8F29-C2A5-A359-47E15BACB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B92F7-C317-0D2B-D381-E3B800BD8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30B7E-0027-E430-E21F-4DCA3C48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193DE-FB03-6B4A-648D-3944DD329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8D0C0D-9F7D-6A91-1634-28EB91E3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4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27BB5-4F3B-2D93-DAB7-7115634E6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C4DBE-09EF-29B7-1AC0-5EC29B629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1DE9D-5FF4-7AE4-F494-043F1C7BF1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C922C-48AC-C640-F476-15C827E57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D6051-BD92-699C-7B6C-65BF485756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3830D8-5B5C-CCA7-B556-2E86A53CA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BF6E0-CCBD-D279-E4BB-1C5CFFCAF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CEBDFB-6A8E-B444-0972-7AE82D68E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848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6F03-843C-012E-E1B3-D6C629791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E118D-FD8E-3CF0-DA68-1CBDAA40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BD45C-73A5-D4D9-EAC9-4030B3E9C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F6EF8-0827-9890-EDF1-D6DC2D51B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9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A2D14-9B6D-DD7E-46B3-FBCAE668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6386B0-035F-C12F-2A2C-FDE26C72D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F31AA-5EEF-7B77-BE65-018694198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70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DAE9-C5A0-DA12-BDC6-6BFC41BC4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46011-D72D-78CB-6171-93E16A9D5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D206DE-F38F-29C9-210D-2EF106CE08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06248A-381A-250B-DE21-C1A2BAB26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8F49E8-5F63-ECBC-4AC8-5AB127AD7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D42DEE-C8EC-5194-F352-8A4D283F8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1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DB6BB-5EC8-9014-B8CB-D8AD90AE0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BC79E-6512-B39F-2799-48D0DDBAD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FF9039-3231-384A-9655-2FDE5A094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F27F7-42B8-CCF4-1190-E7733726E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E9312-C65B-EF31-4732-6F6551FBF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03BA8-780F-54FD-3EC6-32458DCB4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83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53B6-3A9B-07B9-01D6-8B76C8C0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F3F20-A2CD-029C-575B-DCEF3D354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A35AE-0A15-9FA9-EAEF-A80975B87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00663-0396-1B45-DCA9-3FF1D5EB7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B23FF-165B-4FD5-157A-4DE76AEAC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815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ACD25A-4E3D-25EF-E731-24D9E56EC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AD41FC-B367-FEB3-3440-DDA82326EE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AC125-5BBB-6D2F-48E1-84EA91089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78190D-932B-96D6-3826-95EBEA699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CD36B-4963-1358-F1EB-44B3C378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87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99C5E7-B04D-BE07-2EC9-7654FD62E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B1894-2727-9BB9-4630-28E1F0983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F0B1BC-90DA-0330-07F4-BB540630DD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6432D-CEB3-446A-BE4E-A762FE29C561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5EE47-8DCF-6CB7-88EE-7301FAC531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729FE-5E6A-773E-A202-2A2D0734AB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61DDB-B82F-41F2-A8E7-1076F1E3BD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315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struct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50B03-1095-88E3-A1F4-476495F471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HRF Analysis Code 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858FF-78C1-540A-282E-89F42CF4EF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Sun 05/26/2026</a:t>
            </a:r>
          </a:p>
        </p:txBody>
      </p:sp>
    </p:spTree>
    <p:extLst>
      <p:ext uri="{BB962C8B-B14F-4D97-AF65-F5344CB8AC3E}">
        <p14:creationId xmlns:p14="http://schemas.microsoft.com/office/powerpoint/2010/main" val="3447006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E43E4-1D4C-3CEC-0B0F-C611CBCFC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5A3B-8753-BAF9-359B-B882DBEA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Usage</a:t>
            </a:r>
          </a:p>
          <a:p>
            <a:pPr lvl="1"/>
            <a:r>
              <a:rPr lang="en-US" b="1" i="1" dirty="0" err="1"/>
              <a:t>run_hrf_pipeline</a:t>
            </a:r>
            <a:r>
              <a:rPr lang="en-US" i="1" dirty="0"/>
              <a:t>(‘</a:t>
            </a:r>
            <a:r>
              <a:rPr lang="en-US" i="1" dirty="0" err="1"/>
              <a:t>file.nii</a:t>
            </a:r>
            <a:r>
              <a:rPr lang="en-US" i="1" dirty="0"/>
              <a:t>’, ‘</a:t>
            </a:r>
            <a:r>
              <a:rPr lang="en-US" i="1" dirty="0" err="1"/>
              <a:t>events.tsv</a:t>
            </a:r>
            <a:r>
              <a:rPr lang="en-US" i="1" dirty="0"/>
              <a:t>’, TR, </a:t>
            </a:r>
            <a:r>
              <a:rPr lang="en-US" i="1" dirty="0" err="1"/>
              <a:t>WindowSeconds</a:t>
            </a:r>
            <a:r>
              <a:rPr lang="en-US" i="1" dirty="0"/>
              <a:t>, Models, SignalSource, </a:t>
            </a:r>
            <a:r>
              <a:rPr lang="en-US" i="1" dirty="0" err="1"/>
              <a:t>SimilarityMetric</a:t>
            </a:r>
            <a:r>
              <a:rPr lang="en-US" i="1" dirty="0"/>
              <a:t>, </a:t>
            </a:r>
            <a:r>
              <a:rPr lang="en-US" i="1" dirty="0" err="1"/>
              <a:t>ImageSet</a:t>
            </a:r>
            <a:r>
              <a:rPr lang="en-US" i="1" dirty="0"/>
              <a:t>);</a:t>
            </a:r>
          </a:p>
          <a:p>
            <a:r>
              <a:rPr lang="en-US" dirty="0"/>
              <a:t>Collect Files</a:t>
            </a:r>
          </a:p>
          <a:p>
            <a:pPr lvl="1"/>
            <a:r>
              <a:rPr lang="en-US" dirty="0"/>
              <a:t>Run-level 4D </a:t>
            </a:r>
            <a:r>
              <a:rPr lang="en-US" dirty="0" err="1"/>
              <a:t>Nifti</a:t>
            </a:r>
            <a:r>
              <a:rPr lang="en-US" dirty="0"/>
              <a:t> Files</a:t>
            </a:r>
          </a:p>
          <a:p>
            <a:pPr lvl="1"/>
            <a:r>
              <a:rPr lang="en-US" dirty="0" err="1"/>
              <a:t>Events.tsv</a:t>
            </a:r>
            <a:r>
              <a:rPr lang="en-US" dirty="0"/>
              <a:t> Files (BIDS Formatted)</a:t>
            </a:r>
          </a:p>
          <a:p>
            <a:r>
              <a:rPr lang="en-US" dirty="0"/>
              <a:t>Two Entryways:</a:t>
            </a:r>
          </a:p>
          <a:p>
            <a:pPr lvl="1"/>
            <a:r>
              <a:rPr lang="en-US" dirty="0"/>
              <a:t>Direct/Interactive: </a:t>
            </a:r>
            <a:r>
              <a:rPr lang="en-US" b="1" i="1" dirty="0" err="1">
                <a:solidFill>
                  <a:srgbClr val="212121"/>
                </a:solidFill>
                <a:effectLst/>
                <a:latin typeface="Menlo"/>
              </a:rPr>
              <a:t>run_hrf_study_pipeline</a:t>
            </a:r>
            <a:r>
              <a:rPr lang="en-US" i="1" dirty="0">
                <a:solidFill>
                  <a:srgbClr val="212121"/>
                </a:solidFill>
                <a:effectLst/>
                <a:latin typeface="Menlo"/>
              </a:rPr>
              <a:t>()</a:t>
            </a:r>
            <a:endParaRPr lang="en-US" i="1" dirty="0"/>
          </a:p>
          <a:p>
            <a:pPr lvl="1"/>
            <a:r>
              <a:rPr lang="en-US" dirty="0"/>
              <a:t>HCP:  </a:t>
            </a:r>
            <a:r>
              <a:rPr lang="en-US" b="1" i="1" dirty="0" err="1"/>
              <a:t>hrf_write_slurm_study_script</a:t>
            </a:r>
            <a:r>
              <a:rPr lang="en-US" i="1" dirty="0"/>
              <a:t>()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33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2150-C3A1-8BCD-8902-485F2F011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Usage – Run Level Pipeline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60EBD-CC3A-8609-2B6F-8D5DA254B4C8}"/>
              </a:ext>
            </a:extLst>
          </p:cNvPr>
          <p:cNvSpPr txBox="1"/>
          <p:nvPr/>
        </p:nvSpPr>
        <p:spPr>
          <a:xfrm>
            <a:off x="0" y="1512521"/>
            <a:ext cx="5292558" cy="172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run_hrf_pipeline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fmri_files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{1},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events_files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{1},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0.46,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WindowSeconds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30,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'fir'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'SignalSource'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SimilarityMetric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dotproduct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7413C3-D4A4-0DF0-F055-94801D80B4FF}"/>
              </a:ext>
            </a:extLst>
          </p:cNvPr>
          <p:cNvSpPr txBox="1"/>
          <p:nvPr/>
        </p:nvSpPr>
        <p:spPr>
          <a:xfrm>
            <a:off x="6349833" y="1512521"/>
            <a:ext cx="6224954" cy="2612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86"/>
              </a:lnSpc>
              <a:buNone/>
            </a:pPr>
            <a:r>
              <a:rPr lang="en-US" b="1" i="0" dirty="0">
                <a:effectLst/>
                <a:latin typeface="Menlo"/>
              </a:rPr>
              <a:t>results</a:t>
            </a:r>
            <a:r>
              <a:rPr lang="en-US" b="0" i="0" dirty="0">
                <a:effectLst/>
                <a:latin typeface="Menlo"/>
              </a:rPr>
              <a:t> = </a:t>
            </a:r>
            <a:br>
              <a:rPr lang="en-US" b="0" i="0" dirty="0">
                <a:effectLst/>
                <a:latin typeface="Menlo"/>
              </a:rPr>
            </a:br>
            <a:br>
              <a:rPr lang="en-US" b="0" i="0" dirty="0">
                <a:effectLst/>
                <a:latin typeface="Menlo"/>
              </a:rPr>
            </a:br>
            <a:r>
              <a:rPr lang="en-US" b="1" i="0" dirty="0">
                <a:effectLst/>
                <a:latin typeface="Menlo"/>
                <a:hlinkClick r:id="rId2"/>
              </a:rPr>
              <a:t>struct</a:t>
            </a:r>
            <a:r>
              <a:rPr lang="en-US" b="0" i="0" dirty="0">
                <a:effectLst/>
                <a:latin typeface="Menlo"/>
              </a:rPr>
              <a:t> with fields:</a:t>
            </a:r>
            <a:br>
              <a:rPr lang="en-US" b="0" i="0" dirty="0">
                <a:effectLst/>
                <a:latin typeface="Menlo"/>
              </a:rPr>
            </a:b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timeseries: [1486×1 double]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events: [274×3 table]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conditions: {1×19 cell}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condition_groups</a:t>
            </a:r>
            <a:r>
              <a:rPr lang="en-US" b="0" i="0" dirty="0">
                <a:effectLst/>
                <a:latin typeface="Menlo"/>
              </a:rPr>
              <a:t>: [19×1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stick_functions</a:t>
            </a:r>
            <a:r>
              <a:rPr lang="en-US" b="0" i="0" dirty="0">
                <a:effectLst/>
                <a:latin typeface="Menlo"/>
              </a:rPr>
              <a:t>: {1×19 cell}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fits: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>
                <a:effectLst/>
                <a:latin typeface="Menlo"/>
              </a:rPr>
              <a:t>settings: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signature_meta</a:t>
            </a:r>
            <a:r>
              <a:rPr lang="en-US" b="0" i="0" dirty="0">
                <a:effectLst/>
                <a:latin typeface="Menlo"/>
              </a:rPr>
              <a:t>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fits_by_signature</a:t>
            </a:r>
            <a:r>
              <a:rPr lang="en-US" b="0" i="0" dirty="0">
                <a:effectLst/>
                <a:latin typeface="Menlo"/>
              </a:rPr>
              <a:t>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wholebrain_paths_by_model</a:t>
            </a:r>
            <a:r>
              <a:rPr lang="en-US" b="0" i="0" dirty="0">
                <a:effectLst/>
                <a:latin typeface="Menlo"/>
              </a:rPr>
              <a:t>: [1×1 struct]</a:t>
            </a:r>
            <a:br>
              <a:rPr lang="en-US" b="0" i="0" dirty="0">
                <a:effectLst/>
                <a:latin typeface="Menlo"/>
              </a:rPr>
            </a:br>
            <a:r>
              <a:rPr lang="en-US" b="0" i="0" dirty="0" err="1">
                <a:effectLst/>
                <a:latin typeface="Menlo"/>
              </a:rPr>
              <a:t>wholebrain_metadata_by_model</a:t>
            </a:r>
            <a:r>
              <a:rPr lang="en-US" b="0" i="0" dirty="0">
                <a:effectLst/>
                <a:latin typeface="Menlo"/>
              </a:rPr>
              <a:t>: [1×1 struct]</a:t>
            </a:r>
          </a:p>
        </p:txBody>
      </p:sp>
    </p:spTree>
    <p:extLst>
      <p:ext uri="{BB962C8B-B14F-4D97-AF65-F5344CB8AC3E}">
        <p14:creationId xmlns:p14="http://schemas.microsoft.com/office/powerpoint/2010/main" val="947434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4B4B7-CA05-3B13-072D-2D74228C2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762" y="2126028"/>
            <a:ext cx="7610475" cy="45934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8D3A4D-E540-1BE9-5484-4D4E60ED9C54}"/>
              </a:ext>
            </a:extLst>
          </p:cNvPr>
          <p:cNvSpPr txBox="1"/>
          <p:nvPr/>
        </p:nvSpPr>
        <p:spPr>
          <a:xfrm>
            <a:off x="1976437" y="1512521"/>
            <a:ext cx="8239125" cy="467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	'Conditions'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'nback-nostimblock'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});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3109EE-A57F-99BA-BD11-F89FC70B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Basic Usage</a:t>
            </a:r>
          </a:p>
        </p:txBody>
      </p:sp>
    </p:spTree>
    <p:extLst>
      <p:ext uri="{BB962C8B-B14F-4D97-AF65-F5344CB8AC3E}">
        <p14:creationId xmlns:p14="http://schemas.microsoft.com/office/powerpoint/2010/main" val="37298142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167BB-517B-F1B4-ABFE-CEA4EA77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5955601-D104-21B1-FDCD-F40F734DC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Basic Usage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68D92-589A-7184-9358-40599630C65C}"/>
              </a:ext>
            </a:extLst>
          </p:cNvPr>
          <p:cNvSpPr txBox="1"/>
          <p:nvPr/>
        </p:nvSpPr>
        <p:spPr>
          <a:xfrm>
            <a:off x="0" y="1476739"/>
            <a:ext cx="6096000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(results,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81669-4E22-B30F-938C-5BBE6A33D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3711"/>
            <a:ext cx="5334000" cy="3219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9DE9180-74C0-9486-97A9-402969A1F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33236"/>
            <a:ext cx="5334000" cy="3209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06F42D-828E-A3B7-0B1E-63EEAC986641}"/>
              </a:ext>
            </a:extLst>
          </p:cNvPr>
          <p:cNvSpPr txBox="1"/>
          <p:nvPr/>
        </p:nvSpPr>
        <p:spPr>
          <a:xfrm>
            <a:off x="6191250" y="1476739"/>
            <a:ext cx="6119812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(results,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34DEDB-6599-DAAB-545C-01139BF1EB0A}"/>
              </a:ext>
            </a:extLst>
          </p:cNvPr>
          <p:cNvSpPr txBox="1"/>
          <p:nvPr/>
        </p:nvSpPr>
        <p:spPr>
          <a:xfrm>
            <a:off x="3251228" y="4400823"/>
            <a:ext cx="7828185" cy="2069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Model misspecification in canonical?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Check residuals if they deviate from random noise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Task-related pattern left?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Where is the mismodelling?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Add quantitative metrics for mismodelling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Systematic </a:t>
            </a:r>
            <a:r>
              <a:rPr lang="en-US" sz="1400" dirty="0" err="1">
                <a:solidFill>
                  <a:srgbClr val="212121"/>
                </a:solidFill>
                <a:latin typeface="Menlo"/>
              </a:rPr>
              <a:t>misvariance</a:t>
            </a:r>
            <a:r>
              <a:rPr lang="en-US" sz="1400" dirty="0">
                <a:solidFill>
                  <a:srgbClr val="212121"/>
                </a:solidFill>
                <a:latin typeface="Menlo"/>
              </a:rPr>
              <a:t>?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Power loss?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What is the best number?</a:t>
            </a:r>
          </a:p>
          <a:p>
            <a:pPr marL="285750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Optimized overall HRF function agnostic of hypothesis and then t-test across conditions.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Maybe need cross-validation to get amplitude/AUC/Other performance.</a:t>
            </a:r>
          </a:p>
          <a:p>
            <a:pPr marL="742950" lvl="1" indent="-285750">
              <a:lnSpc>
                <a:spcPts val="135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12121"/>
                </a:solidFill>
                <a:latin typeface="Menlo"/>
              </a:rPr>
              <a:t>Square root of the variance of the curves</a:t>
            </a:r>
          </a:p>
        </p:txBody>
      </p:sp>
    </p:spTree>
    <p:extLst>
      <p:ext uri="{BB962C8B-B14F-4D97-AF65-F5344CB8AC3E}">
        <p14:creationId xmlns:p14="http://schemas.microsoft.com/office/powerpoint/2010/main" val="239194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6460-697C-49EA-564E-873832130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Study-Level Pipeline: Running Locally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BCEAE4-3D8D-F9C7-93DF-30CFF136CD1C}"/>
              </a:ext>
            </a:extLst>
          </p:cNvPr>
          <p:cNvSpPr txBox="1"/>
          <p:nvPr/>
        </p:nvSpPr>
        <p:spPr>
          <a:xfrm>
            <a:off x="3047999" y="1690688"/>
            <a:ext cx="7153275" cy="172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study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run_hrf_study_pipeline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fmri_files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events_files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subject_ids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0.46,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WindowSeconds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30,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WriteWholeBrain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true,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WholeBrainOutputDir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WholeBrainPThresh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0.05,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WholeBrainThreshType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fdr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UseParallelSubjects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true);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93C48-D951-AF1C-E656-3D52D0F96FF4}"/>
              </a:ext>
            </a:extLst>
          </p:cNvPr>
          <p:cNvSpPr txBox="1"/>
          <p:nvPr/>
        </p:nvSpPr>
        <p:spPr>
          <a:xfrm>
            <a:off x="3047999" y="3476626"/>
            <a:ext cx="6096000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study.summary</a:t>
            </a:r>
            <a:endParaRPr lang="en-US" b="1" i="0" dirty="0">
              <a:solidFill>
                <a:srgbClr val="212121"/>
              </a:solidFill>
              <a:effectLst/>
              <a:latin typeface="Menl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CC5BBD-4A9C-EEBA-F1A7-229327E03F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9" y="3764525"/>
            <a:ext cx="5953549" cy="19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0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BF7084-F78F-F362-9738-D25CED4ED58A}"/>
              </a:ext>
            </a:extLst>
          </p:cNvPr>
          <p:cNvSpPr txBox="1"/>
          <p:nvPr/>
        </p:nvSpPr>
        <p:spPr>
          <a:xfrm>
            <a:off x="95250" y="1361447"/>
            <a:ext cx="8820150" cy="413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pwd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  <a:p>
            <a:pPr>
              <a:lnSpc>
                <a:spcPts val="1293"/>
              </a:lnSpc>
              <a:buNone/>
            </a:pP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1:numel(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if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~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study.success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continue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prefix =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fullfile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[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regexprep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subject_ids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'[^\w.-]'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]);</a:t>
            </a:r>
          </a:p>
          <a:p>
            <a:pPr lvl="1">
              <a:lnSpc>
                <a:spcPts val="1293"/>
              </a:lnSpc>
            </a:pP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hrf_apply_maps_to_wholebrain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}.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'Object'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'beta'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image_sets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SimilarityMetric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dotproduct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[prefix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'_beta_map_scores.csv'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]);</a:t>
            </a:r>
          </a:p>
          <a:p>
            <a:pPr lvl="1">
              <a:lnSpc>
                <a:spcPts val="1293"/>
              </a:lnSpc>
            </a:pP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hrf_apply_maps_to_wholebrain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}.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wholebrain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'Object'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image_sets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SimilarityMetric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dotproduct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[prefix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'_t_map_scores.csv'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]);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C80C978-3C22-54C7-FADA-C6E0CD5E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 : Running Locally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9FCE59-55CD-7E76-3C33-C54ACB8D9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3205" y="1361447"/>
            <a:ext cx="4170290" cy="503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7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C9F79-0933-F7FC-B07F-13E6B0F5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D35124D-7479-5FDC-6F8F-F4B51C3D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HCP SLURM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4B08DA-3DB9-768A-B4B9-9CA448C509E0}"/>
              </a:ext>
            </a:extLst>
          </p:cNvPr>
          <p:cNvSpPr txBox="1"/>
          <p:nvPr/>
        </p:nvSpPr>
        <p:spPr>
          <a:xfrm>
            <a:off x="323850" y="1690688"/>
            <a:ext cx="11725275" cy="387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slurm_paths</a:t>
            </a: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hrf_write_slurm_study_script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fmri_files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events_files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subject_ids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OutputDir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/data/WASABI/derivatives/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hrf_outputs_obs_distractmap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CanlabRoot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MichaelSun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CanlabCore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CanlabCore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ExtraMatlabPaths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MasksPrivate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Neuroimaging_Pattern_Masks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/modules/spm12'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/projects/WASABI/software/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fda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PipelineArgs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'TR'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0.46,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WindowSeconds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30,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WholeBrainPThresh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0.05,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WholeBrainThreshType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fdr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nlgamma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ImageSets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image_sets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ScoreObjects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'beta'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JobName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hrf_wholebrain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'Time'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'24:00:00'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'Mem'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'32G'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CpusPerTask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1,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ModuleLoad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matlab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'Account'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'DBIC'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5263A53-45AF-6A11-D2D3-4A348016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185" y="3924207"/>
            <a:ext cx="181952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348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4C469-3DFF-A9E9-C1EB-900993019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129B3FF-651C-A88C-5225-815A47B3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HCP SLURM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AF729D-D3E9-62C9-99EA-0477D998376C}"/>
              </a:ext>
            </a:extLst>
          </p:cNvPr>
          <p:cNvSpPr txBox="1"/>
          <p:nvPr/>
        </p:nvSpPr>
        <p:spPr>
          <a:xfrm>
            <a:off x="-1" y="1409543"/>
            <a:ext cx="11553825" cy="287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/data/WASABI/derivatives/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hrf_outputs_distractmap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ABC59C-0E92-9663-8278-1521D3A8E793}"/>
              </a:ext>
            </a:extLst>
          </p:cNvPr>
          <p:cNvSpPr txBox="1"/>
          <p:nvPr/>
        </p:nvSpPr>
        <p:spPr>
          <a:xfrm>
            <a:off x="0" y="1697442"/>
            <a:ext cx="12192000" cy="4712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[audit, summary]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hrf_audit_slurm_outputs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fullfile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'hrf_slurm_audit.csv'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));</a:t>
            </a:r>
          </a:p>
          <a:p>
            <a:pPr>
              <a:lnSpc>
                <a:spcPts val="1293"/>
              </a:lnSpc>
              <a:buNone/>
            </a:pP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293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summary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struct with fields:</a:t>
            </a:r>
          </a:p>
          <a:p>
            <a:pPr lvl="1">
              <a:lnSpc>
                <a:spcPts val="1293"/>
              </a:lnSpc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manifest_file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'\\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dartfs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-	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hpc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\lab\C\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CANlab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labdata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\data\WASABI\derivatives\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hrf_outputs_obs_distractmap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\hrf_study_manifest.csv'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config_mat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'\\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dartfs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-	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hpc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\lab\C\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CANlab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labdata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\data\WASABI\derivatives\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hrf_outputs_obs_distractmap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hrf_study_config.mat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'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log_dir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'\\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dartfs-hpc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rc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\lab\C\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CANlab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labdata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\data\WASABI\derivatives\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hrf_outputs_obs_distractmap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\logs'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expected_models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{'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sfir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' 'canonical' 'spline'}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require_scores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1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n_manifest_tasks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n_expected_model_outputs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81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n_core_complete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n_complete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0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n_missing_or_failed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81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n_result_mats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n_complete_tasks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0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n_missing_or_failed_tasks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27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error_types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: {2×1 cell}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audit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(~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audit.complete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task_index'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'subject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…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'run_label'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'error_type'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failed_reason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’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</a:t>
            </a:r>
          </a:p>
          <a:p>
            <a:pPr>
              <a:lnSpc>
                <a:spcPts val="1350"/>
              </a:lnSpc>
              <a:buNone/>
            </a:pPr>
            <a:endParaRPr lang="en-US" dirty="0">
              <a:solidFill>
                <a:srgbClr val="212121"/>
              </a:solidFill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Menlo"/>
              </a:rPr>
              <a:t>Note: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See if we can get SLURM to rerun </a:t>
            </a:r>
            <a:br>
              <a:rPr lang="en-US" b="0" i="0" dirty="0">
                <a:solidFill>
                  <a:srgbClr val="212121"/>
                </a:solidFill>
                <a:effectLst/>
                <a:latin typeface="Menlo"/>
              </a:rPr>
            </a:b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any node that failed</a:t>
            </a:r>
          </a:p>
          <a:p>
            <a:pPr>
              <a:lnSpc>
                <a:spcPts val="1350"/>
              </a:lnSpc>
              <a:buNone/>
            </a:pPr>
            <a:r>
              <a:rPr lang="en-US" dirty="0">
                <a:solidFill>
                  <a:srgbClr val="212121"/>
                </a:solidFill>
                <a:latin typeface="Menlo"/>
              </a:rPr>
              <a:t>* Double </a:t>
            </a:r>
            <a:r>
              <a:rPr lang="en-US" dirty="0" err="1">
                <a:solidFill>
                  <a:srgbClr val="212121"/>
                </a:solidFill>
                <a:latin typeface="Menlo"/>
              </a:rPr>
              <a:t>cpu</a:t>
            </a:r>
            <a:r>
              <a:rPr lang="en-US" dirty="0">
                <a:solidFill>
                  <a:srgbClr val="212121"/>
                </a:solidFill>
                <a:latin typeface="Menlo"/>
              </a:rPr>
              <a:t>/memory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F2D7285-845F-A505-72AC-D3A964068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31" y="3429000"/>
            <a:ext cx="7357617" cy="306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509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3569-979E-9D48-7A97-F212B080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4B2D6A3-F599-9E48-4FD6-ABD24FD1C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HCP SLURM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921C6B-7223-6557-DE04-4D57A7A7C007}"/>
              </a:ext>
            </a:extLst>
          </p:cNvPr>
          <p:cNvSpPr txBox="1"/>
          <p:nvPr/>
        </p:nvSpPr>
        <p:spPr>
          <a:xfrm>
            <a:off x="6686550" y="5949223"/>
            <a:ext cx="6096000" cy="646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hrf_input_table_to_study</a:t>
            </a:r>
            <a:r>
              <a:rPr lang="en-US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'Object'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'beta'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SourceModel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C2592C-D455-EF11-3F86-EB5688631E9C}"/>
              </a:ext>
            </a:extLst>
          </p:cNvPr>
          <p:cNvSpPr txBox="1"/>
          <p:nvPr/>
        </p:nvSpPr>
        <p:spPr>
          <a:xfrm>
            <a:off x="-1" y="1409543"/>
            <a:ext cx="11553825" cy="813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'//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dartfs-hpc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rc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/lab/C/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CANlab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labdata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/data/WASABI/derivatives/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hrf_outputs_distractmap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;</a:t>
            </a:r>
          </a:p>
          <a:p>
            <a:pPr>
              <a:lnSpc>
                <a:spcPts val="1293"/>
              </a:lnSpc>
              <a:buNone/>
            </a:pP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08013"/>
                </a:solidFill>
                <a:effectLst/>
                <a:latin typeface="Menlo"/>
              </a:rPr>
              <a:t>% After SLURM finishes: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hrf_collect_wholebrain_outputs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OutputCsv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fullfile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output_dir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'second_level_inputs.csv'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8ADD2D9-8498-9E1A-D9F8-E22FA199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2333432"/>
            <a:ext cx="8421275" cy="27626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C18D30-B5A1-FE1C-C358-4D353AE40099}"/>
              </a:ext>
            </a:extLst>
          </p:cNvPr>
          <p:cNvSpPr txBox="1"/>
          <p:nvPr/>
        </p:nvSpPr>
        <p:spPr>
          <a:xfrm>
            <a:off x="0" y="5206273"/>
            <a:ext cx="77724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[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score_status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hrf_score_wholebrain_input_table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input_table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SourceModel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'canonical'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'spline'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ScoreObjects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beta'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't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SignatureSets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472492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1A44019-4642-98BD-76CE-4DEFD488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72C765-66A9-0C8A-3330-2DF9EE547A61}"/>
              </a:ext>
            </a:extLst>
          </p:cNvPr>
          <p:cNvSpPr txBox="1"/>
          <p:nvPr/>
        </p:nvSpPr>
        <p:spPr>
          <a:xfrm>
            <a:off x="0" y="1704810"/>
            <a:ext cx="6096000" cy="172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qc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hrf_qc_study_curves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nback-stimblock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'run'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'Weighting'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huber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'Plot'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true);</a:t>
            </a:r>
          </a:p>
          <a:p>
            <a:pPr>
              <a:lnSpc>
                <a:spcPts val="1350"/>
              </a:lnSpc>
              <a:buNone/>
            </a:pP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qc.table.is_outlier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:)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AD0B8B-4C9A-3AD9-DAD5-3BC575632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224" y="1231922"/>
            <a:ext cx="7724775" cy="384738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A1FB50-8C30-597B-6020-2BF1F9069F32}"/>
              </a:ext>
            </a:extLst>
          </p:cNvPr>
          <p:cNvSpPr txBox="1"/>
          <p:nvPr/>
        </p:nvSpPr>
        <p:spPr>
          <a:xfrm>
            <a:off x="304801" y="5079308"/>
            <a:ext cx="12191998" cy="1593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86"/>
              </a:lnSpc>
              <a:buNone/>
            </a:pP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			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subject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n_runs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max_abs_robust_z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rms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peak_abs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auc_abs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n_nan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weight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is_outlier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_____________________________________________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</a:t>
            </a: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__________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14 "ses-30_task-distractmap_run-04_desc-preproc" 	"SID001641" 1 	4.9977 62.311 148.81 2948 0 0.80037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15 "ses-41_task-distractmap_run-02_desc-preproc" 	"SID001651" 1 	11.204 177.99 358.07 9124.2 0 0.35703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16 "ses-41_task-distractmap_run-04_desc-preproc" 	"SID001651" 1 	6.0293 85.831 174.66 4766 0 0.66343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17 "ses-42_task-distractmap_run-02_desc-preproc" 	"SID001651" 1 	4.7097 81.405 175.26 4308.9 0 0.8493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18 "ses-42_task-distractmap_run-04_desc-preproc" 	"SID001651" 1 	6.5752 80.907 185.91 4037.9 0 0.60834 true </a:t>
            </a:r>
            <a:b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1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25 "ses-13_task-distractmap_run-01_desc-preproc" 	"SID002328" 1 	5.1974 67.458 138.05 3660.7 0 0.76961 true </a:t>
            </a:r>
          </a:p>
        </p:txBody>
      </p:sp>
    </p:spTree>
    <p:extLst>
      <p:ext uri="{BB962C8B-B14F-4D97-AF65-F5344CB8AC3E}">
        <p14:creationId xmlns:p14="http://schemas.microsoft.com/office/powerpoint/2010/main" val="2886410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E2FED8C-8687-8FBF-2B45-E95C972CF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6C5D58-CB11-DFD9-78D8-22A1169E6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925" y="2090661"/>
            <a:ext cx="8820149" cy="476733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D38DE9-0279-1B4D-9C03-811E43C20203}"/>
              </a:ext>
            </a:extLst>
          </p:cNvPr>
          <p:cNvSpPr txBox="1"/>
          <p:nvPr/>
        </p:nvSpPr>
        <p:spPr>
          <a:xfrm>
            <a:off x="1685925" y="1297884"/>
            <a:ext cx="8820149" cy="1006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plot_hrf_study_by_subject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study_scores_obs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1" u="sng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b="0" i="1" u="sng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1" u="sng" strike="noStrike" dirty="0">
                <a:solidFill>
                  <a:srgbClr val="A709F5"/>
                </a:solidFill>
                <a:effectLst/>
                <a:latin typeface="Menlo"/>
              </a:rPr>
              <a:t>'run'</a:t>
            </a:r>
            <a:r>
              <a:rPr lang="en-US" b="0" i="1" u="sng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1" u="sng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r>
              <a:rPr lang="en-US" b="0" i="0" u="sng" dirty="0">
                <a:solidFill>
                  <a:srgbClr val="212121"/>
                </a:solidFill>
                <a:effectLst/>
                <a:latin typeface="Menlo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59439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29F9A-AF74-1640-F1E2-49698DA4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DC7B183-7E67-2020-956B-47252DAEC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6A7CC5-6859-EE8D-3B3D-514703C4D2ED}"/>
              </a:ext>
            </a:extLst>
          </p:cNvPr>
          <p:cNvSpPr txBox="1"/>
          <p:nvPr/>
        </p:nvSpPr>
        <p:spPr>
          <a:xfrm>
            <a:off x="-23812" y="1690688"/>
            <a:ext cx="6119812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{1},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ylim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([-200 200])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532FF0-9551-C801-C59B-46C75CC7331D}"/>
              </a:ext>
            </a:extLst>
          </p:cNvPr>
          <p:cNvSpPr txBox="1"/>
          <p:nvPr/>
        </p:nvSpPr>
        <p:spPr>
          <a:xfrm>
            <a:off x="6810375" y="1690688"/>
            <a:ext cx="61341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{2},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ylim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([-200 200])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10D4BF9-3844-4BF8-366C-F83D33399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2" y="2735842"/>
            <a:ext cx="5334000" cy="32099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272B51-1F41-739F-5A9B-8C652B9A3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4637" y="2735841"/>
            <a:ext cx="533400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19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C7DB4-A2E6-A0A5-8798-186960414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FCFFBDC-3824-3318-E750-578DF754C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Study-Level Pipeline: Quality Control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E8E21-5F2A-FFB1-5DFD-844F7A37AD9D}"/>
              </a:ext>
            </a:extLst>
          </p:cNvPr>
          <p:cNvSpPr txBox="1"/>
          <p:nvPr/>
        </p:nvSpPr>
        <p:spPr>
          <a:xfrm>
            <a:off x="342900" y="1417630"/>
            <a:ext cx="6096000" cy="1172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o =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qc.table.is_outlier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:).index'</a:t>
            </a:r>
          </a:p>
          <a:p>
            <a:pPr lvl="1">
              <a:lnSpc>
                <a:spcPts val="1293"/>
              </a:lnSpc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study_scores_lf.results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{o},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  <a:p>
            <a:pPr lvl="1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title(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strcat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(o, :).subject,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'_'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qc.table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(o, :).label));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E37F6-6DBB-C8B6-B561-65EFB5D940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895187"/>
            <a:ext cx="2733675" cy="16450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BA317B-5D5D-D387-62AF-7BB3A0F85F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325" y="2895187"/>
            <a:ext cx="2733675" cy="16450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80F6F2-21D9-5FC1-C73E-4740707EF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2895187"/>
            <a:ext cx="2733675" cy="1645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F90435-F971-9157-D61C-39B78DE34B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4540274"/>
            <a:ext cx="2733675" cy="16450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8966A5-CED9-2FC2-2A7E-5911FCC2A3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9430" y="4617429"/>
            <a:ext cx="2605465" cy="15679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33D556-CE76-B0F4-B812-2911E3BD26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9000" y="4577304"/>
            <a:ext cx="2733676" cy="1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516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7C45B-5468-D363-ABCB-61160681F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11" y="0"/>
            <a:ext cx="11611178" cy="6858000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B3554A-F8C9-7F69-4E11-877291BEDFBF}"/>
              </a:ext>
            </a:extLst>
          </p:cNvPr>
          <p:cNvCxnSpPr/>
          <p:nvPr/>
        </p:nvCxnSpPr>
        <p:spPr>
          <a:xfrm>
            <a:off x="6309360" y="373380"/>
            <a:ext cx="0" cy="60883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B22166-52BA-E6CE-39B7-30A4A2FE4170}"/>
              </a:ext>
            </a:extLst>
          </p:cNvPr>
          <p:cNvSpPr txBox="1"/>
          <p:nvPr/>
        </p:nvSpPr>
        <p:spPr>
          <a:xfrm>
            <a:off x="2583606" y="3244334"/>
            <a:ext cx="14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C7B69C-79BB-5150-F42C-89C42C450C14}"/>
              </a:ext>
            </a:extLst>
          </p:cNvPr>
          <p:cNvSpPr txBox="1"/>
          <p:nvPr/>
        </p:nvSpPr>
        <p:spPr>
          <a:xfrm>
            <a:off x="8671986" y="3244334"/>
            <a:ext cx="1432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SIIPS</a:t>
            </a:r>
          </a:p>
        </p:txBody>
      </p:sp>
    </p:spTree>
    <p:extLst>
      <p:ext uri="{BB962C8B-B14F-4D97-AF65-F5344CB8AC3E}">
        <p14:creationId xmlns:p14="http://schemas.microsoft.com/office/powerpoint/2010/main" val="402343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28DD6-ADD4-CC08-A2F7-658904AC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FE2821-002D-2C7C-2B08-90FC14FBC814}"/>
              </a:ext>
            </a:extLst>
          </p:cNvPr>
          <p:cNvSpPr txBox="1"/>
          <p:nvPr/>
        </p:nvSpPr>
        <p:spPr>
          <a:xfrm>
            <a:off x="403860" y="6031492"/>
            <a:ext cx="50673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plot_hrf_study_by_subject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42FCA-7AB0-1882-7D27-F350633CA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1556"/>
            <a:ext cx="12192000" cy="329488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DDD96C7E-114D-DCE1-AF5C-0DC4BEEC1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279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B0F08-43EB-9183-4737-4BF3CEAA5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08C5733-2C49-102B-B439-8884F91DB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F5048E-B54D-2A54-240D-BFF5D12F3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8260"/>
            <a:ext cx="12192000" cy="3307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024C5B6-0CA6-36C7-EDD2-47B090535B34}"/>
              </a:ext>
            </a:extLst>
          </p:cNvPr>
          <p:cNvSpPr txBox="1"/>
          <p:nvPr/>
        </p:nvSpPr>
        <p:spPr>
          <a:xfrm>
            <a:off x="0" y="4625340"/>
            <a:ext cx="10163175" cy="2262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for 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s = 1:7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try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2">
              <a:lnSpc>
                <a:spcPts val="1350"/>
              </a:lnSpc>
            </a:pP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plot_hrf_by_condition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study_scores.results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{s},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3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3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3">
              <a:lnSpc>
                <a:spcPts val="1350"/>
              </a:lnSpc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'Conditions'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{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'nback-nostimblock'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});</a:t>
            </a:r>
          </a:p>
          <a:p>
            <a:pPr lvl="2">
              <a:lnSpc>
                <a:spcPts val="1350"/>
              </a:lnSpc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ylim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([-200 200])</a:t>
            </a:r>
          </a:p>
          <a:p>
            <a:pPr lvl="2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title([subjects{s},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 NPS Left Face 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Nback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 Stim vs. 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NoStim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])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catch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 lvl="1">
              <a:lnSpc>
                <a:spcPts val="1350"/>
              </a:lnSpc>
            </a:pP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	warning([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'no fit for subject-'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s]);</a:t>
            </a:r>
          </a:p>
          <a:p>
            <a:pPr lvl="1">
              <a:lnSpc>
                <a:spcPts val="1350"/>
              </a:lnSpc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end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355319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723A87-42BD-F178-08E5-094969617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604"/>
            <a:ext cx="12192000" cy="3288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380665-405A-567B-87FD-21C06928AB36}"/>
              </a:ext>
            </a:extLst>
          </p:cNvPr>
          <p:cNvSpPr txBox="1"/>
          <p:nvPr/>
        </p:nvSpPr>
        <p:spPr>
          <a:xfrm>
            <a:off x="0" y="5305812"/>
            <a:ext cx="6096000" cy="1365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b="1" i="0" dirty="0" err="1">
                <a:solidFill>
                  <a:srgbClr val="212121"/>
                </a:solidFill>
                <a:effectLst/>
                <a:latin typeface="Menlo"/>
              </a:rPr>
              <a:t>hrf_time_unfolding_stats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sig_all_NPS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ConditionA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'subject'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'Alpha'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0.05);</a:t>
            </a:r>
          </a:p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plot_hrf_time_unfolding_stats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10B238-B50D-18E4-9161-BBB35A6E7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749E6F2-A591-B733-5463-D3BC0D47241E}"/>
              </a:ext>
            </a:extLst>
          </p:cNvPr>
          <p:cNvSpPr/>
          <p:nvPr/>
        </p:nvSpPr>
        <p:spPr>
          <a:xfrm>
            <a:off x="3703320" y="2964180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31FC7BB-E657-8BAC-4C89-4397A2703853}"/>
              </a:ext>
            </a:extLst>
          </p:cNvPr>
          <p:cNvSpPr/>
          <p:nvPr/>
        </p:nvSpPr>
        <p:spPr>
          <a:xfrm>
            <a:off x="3924300" y="472478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D7D5509-50EA-AA86-1FCF-DA744DA6470A}"/>
              </a:ext>
            </a:extLst>
          </p:cNvPr>
          <p:cNvSpPr/>
          <p:nvPr/>
        </p:nvSpPr>
        <p:spPr>
          <a:xfrm>
            <a:off x="758190" y="472478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D9979-9B1B-F64F-B6A5-744E342AC555}"/>
              </a:ext>
            </a:extLst>
          </p:cNvPr>
          <p:cNvSpPr txBox="1"/>
          <p:nvPr/>
        </p:nvSpPr>
        <p:spPr>
          <a:xfrm>
            <a:off x="7865428" y="1521411"/>
            <a:ext cx="2527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Rest vs. </a:t>
            </a:r>
            <a:r>
              <a:rPr lang="en-US" sz="16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 Effect</a:t>
            </a:r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109580-DE6E-DA2F-D018-A0E8D19DA989}"/>
              </a:ext>
            </a:extLst>
          </p:cNvPr>
          <p:cNvSpPr txBox="1"/>
          <p:nvPr/>
        </p:nvSpPr>
        <p:spPr>
          <a:xfrm>
            <a:off x="7949248" y="5189604"/>
            <a:ext cx="2527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12121"/>
                </a:solidFill>
                <a:effectLst/>
                <a:latin typeface="Menlo"/>
              </a:rPr>
              <a:t>No NPS Effect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516198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FC06DD2-3E0F-07D8-15E8-214424886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4604"/>
            <a:ext cx="12192000" cy="3288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2CC3A55-079F-092F-D158-54207E4291FD}"/>
              </a:ext>
            </a:extLst>
          </p:cNvPr>
          <p:cNvSpPr txBox="1"/>
          <p:nvPr/>
        </p:nvSpPr>
        <p:spPr>
          <a:xfrm>
            <a:off x="0" y="6031492"/>
            <a:ext cx="6096000" cy="826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plot_hrf_study_by_subject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sig_all_SIIPS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 </a:t>
            </a:r>
          </a:p>
          <a:p>
            <a:pPr>
              <a:lnSpc>
                <a:spcPts val="1350"/>
              </a:lnSpc>
              <a:buNone/>
            </a:pP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'Condition'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A8443C6-56E7-9080-6F47-FA828CE47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433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A182C2-6D7B-D9CB-3D2F-1C3B63EC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DistractMap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055312-AAAB-95A1-438F-FF002B81B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268"/>
            <a:ext cx="12192000" cy="333146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58BCED-7924-6FF1-0381-314D9153CC24}"/>
              </a:ext>
            </a:extLst>
          </p:cNvPr>
          <p:cNvSpPr txBox="1"/>
          <p:nvPr/>
        </p:nvSpPr>
        <p:spPr>
          <a:xfrm>
            <a:off x="60960" y="5167312"/>
            <a:ext cx="6096000" cy="1697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-US" sz="1400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 = </a:t>
            </a:r>
            <a:r>
              <a:rPr lang="en-US" sz="1400" b="1" i="0" dirty="0" err="1">
                <a:solidFill>
                  <a:srgbClr val="212121"/>
                </a:solidFill>
                <a:effectLst/>
                <a:latin typeface="Menlo"/>
              </a:rPr>
              <a:t>hrf_time_unfolding_stats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Menlo"/>
              </a:rPr>
              <a:t>study_scores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'Model'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sfir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'Signature'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sig_all_SIIPS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ConditionA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'nback-stimblock_ttl_1'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ConditionB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u="none" strike="noStrike" dirty="0" err="1">
                <a:solidFill>
                  <a:srgbClr val="A709F5"/>
                </a:solidFill>
                <a:effectLst/>
                <a:latin typeface="Menlo"/>
              </a:rPr>
              <a:t>nback-nostimblock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'Unit'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'subject'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</a:t>
            </a:r>
            <a:r>
              <a:rPr lang="en-US" sz="1400" b="0" i="0" u="none" strike="noStrike" dirty="0">
                <a:solidFill>
                  <a:srgbClr val="0E00FF"/>
                </a:solidFill>
                <a:effectLst/>
                <a:latin typeface="Menlo"/>
              </a:rPr>
              <a:t>...</a:t>
            </a: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0" i="0" u="none" strike="noStrike" dirty="0">
                <a:solidFill>
                  <a:srgbClr val="A709F5"/>
                </a:solidFill>
                <a:effectLst/>
                <a:latin typeface="Menlo"/>
              </a:rPr>
              <a:t>'Alpha'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, 0.05);</a:t>
            </a:r>
          </a:p>
          <a:p>
            <a:pPr>
              <a:lnSpc>
                <a:spcPts val="1293"/>
              </a:lnSpc>
              <a:buNone/>
            </a:pPr>
            <a:endParaRPr lang="en-US" sz="1400" b="0" i="0" dirty="0">
              <a:solidFill>
                <a:srgbClr val="212121"/>
              </a:solidFill>
              <a:effectLst/>
              <a:latin typeface="Menlo"/>
            </a:endParaRPr>
          </a:p>
          <a:p>
            <a:pPr>
              <a:lnSpc>
                <a:spcPts val="1350"/>
              </a:lnSpc>
              <a:buNone/>
            </a:pPr>
            <a:r>
              <a:rPr lang="en-US" sz="1400" b="1" i="0" dirty="0" err="1">
                <a:solidFill>
                  <a:srgbClr val="212121"/>
                </a:solidFill>
                <a:effectLst/>
                <a:latin typeface="Menlo"/>
              </a:rPr>
              <a:t>plot_hrf_time_unfolding_stats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(</a:t>
            </a:r>
            <a:r>
              <a:rPr lang="en-US" sz="1400" b="0" i="0" dirty="0" err="1">
                <a:solidFill>
                  <a:srgbClr val="212121"/>
                </a:solidFill>
                <a:effectLst/>
                <a:latin typeface="Menlo"/>
              </a:rPr>
              <a:t>stats_nps</a:t>
            </a:r>
            <a:r>
              <a:rPr lang="en-US" sz="1400" b="0" i="0" dirty="0">
                <a:solidFill>
                  <a:srgbClr val="212121"/>
                </a:solidFill>
                <a:effectLst/>
                <a:latin typeface="Menlo"/>
              </a:rPr>
              <a:t>);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290EBD-19C9-EFC0-4860-8FA498768F56}"/>
              </a:ext>
            </a:extLst>
          </p:cNvPr>
          <p:cNvSpPr txBox="1"/>
          <p:nvPr/>
        </p:nvSpPr>
        <p:spPr>
          <a:xfrm>
            <a:off x="215900" y="1449716"/>
            <a:ext cx="25273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Left Face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DE6A5C-27B1-2E05-9385-50F7827A382F}"/>
              </a:ext>
            </a:extLst>
          </p:cNvPr>
          <p:cNvSpPr txBox="1"/>
          <p:nvPr/>
        </p:nvSpPr>
        <p:spPr>
          <a:xfrm>
            <a:off x="-87313" y="3429000"/>
            <a:ext cx="31464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Other Body Site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37A0B1-C20B-15D9-B079-C4DA42EFF275}"/>
              </a:ext>
            </a:extLst>
          </p:cNvPr>
          <p:cNvSpPr txBox="1"/>
          <p:nvPr/>
        </p:nvSpPr>
        <p:spPr>
          <a:xfrm>
            <a:off x="3313748" y="1449716"/>
            <a:ext cx="25273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Left Face Rest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075236-0A6B-42C0-532D-3672C36601B8}"/>
              </a:ext>
            </a:extLst>
          </p:cNvPr>
          <p:cNvSpPr txBox="1"/>
          <p:nvPr/>
        </p:nvSpPr>
        <p:spPr>
          <a:xfrm>
            <a:off x="3010535" y="3429000"/>
            <a:ext cx="31464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i="0" dirty="0">
                <a:solidFill>
                  <a:srgbClr val="212121"/>
                </a:solidFill>
                <a:effectLst/>
                <a:latin typeface="Menlo"/>
              </a:rPr>
              <a:t>Other Body Site Rest Stim vs. </a:t>
            </a:r>
            <a:r>
              <a:rPr lang="en-US" sz="1100" i="0" dirty="0" err="1">
                <a:solidFill>
                  <a:srgbClr val="212121"/>
                </a:solidFill>
                <a:effectLst/>
                <a:latin typeface="Menlo"/>
              </a:rPr>
              <a:t>NoStim</a:t>
            </a:r>
            <a:endParaRPr lang="en-US" sz="1100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F2D4AB7-12D1-3DC8-0313-DEA457E019DA}"/>
              </a:ext>
            </a:extLst>
          </p:cNvPr>
          <p:cNvSpPr/>
          <p:nvPr/>
        </p:nvSpPr>
        <p:spPr>
          <a:xfrm>
            <a:off x="4116070" y="2964180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F946A78-BFAE-2B6A-9231-4491FA2B2C38}"/>
              </a:ext>
            </a:extLst>
          </p:cNvPr>
          <p:cNvSpPr/>
          <p:nvPr/>
        </p:nvSpPr>
        <p:spPr>
          <a:xfrm>
            <a:off x="3924300" y="4724784"/>
            <a:ext cx="163830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59A25B-AE6E-911B-1C84-E765674C79CC}"/>
              </a:ext>
            </a:extLst>
          </p:cNvPr>
          <p:cNvSpPr/>
          <p:nvPr/>
        </p:nvSpPr>
        <p:spPr>
          <a:xfrm>
            <a:off x="758190" y="472478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EA3470E-B837-E5CA-EF58-4B6C97F929D4}"/>
              </a:ext>
            </a:extLst>
          </p:cNvPr>
          <p:cNvSpPr/>
          <p:nvPr/>
        </p:nvSpPr>
        <p:spPr>
          <a:xfrm>
            <a:off x="6821170" y="453047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957EE6-664E-D999-E53A-3AED8744CBFF}"/>
              </a:ext>
            </a:extLst>
          </p:cNvPr>
          <p:cNvSpPr/>
          <p:nvPr/>
        </p:nvSpPr>
        <p:spPr>
          <a:xfrm>
            <a:off x="10097770" y="4530474"/>
            <a:ext cx="120396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FB1F4F-D116-321C-6EE2-B72F48D8ACA0}"/>
              </a:ext>
            </a:extLst>
          </p:cNvPr>
          <p:cNvSpPr txBox="1"/>
          <p:nvPr/>
        </p:nvSpPr>
        <p:spPr>
          <a:xfrm>
            <a:off x="7865428" y="1521411"/>
            <a:ext cx="25273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Rest vs. </a:t>
            </a:r>
            <a:r>
              <a:rPr lang="en-US" sz="1600" i="0" dirty="0" err="1">
                <a:solidFill>
                  <a:srgbClr val="212121"/>
                </a:solidFill>
                <a:effectLst/>
                <a:latin typeface="Menlo"/>
              </a:rPr>
              <a:t>Nback</a:t>
            </a:r>
            <a:r>
              <a:rPr lang="en-US" sz="1600" i="0" dirty="0">
                <a:solidFill>
                  <a:srgbClr val="212121"/>
                </a:solidFill>
                <a:effectLst/>
                <a:latin typeface="Menlo"/>
              </a:rPr>
              <a:t> Effect</a:t>
            </a:r>
            <a:endParaRPr lang="en-US" sz="16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D64BC2-E016-8B3B-2FDE-3A8C19070C63}"/>
              </a:ext>
            </a:extLst>
          </p:cNvPr>
          <p:cNvSpPr txBox="1"/>
          <p:nvPr/>
        </p:nvSpPr>
        <p:spPr>
          <a:xfrm>
            <a:off x="5841048" y="5189604"/>
            <a:ext cx="63093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212121"/>
                </a:solidFill>
                <a:effectLst/>
                <a:latin typeface="Menlo"/>
              </a:rPr>
              <a:t>Significant </a:t>
            </a:r>
            <a:r>
              <a:rPr lang="en-US" sz="3200" b="1" dirty="0">
                <a:solidFill>
                  <a:srgbClr val="212121"/>
                </a:solidFill>
                <a:latin typeface="Menlo"/>
              </a:rPr>
              <a:t>SIIPS </a:t>
            </a:r>
            <a:r>
              <a:rPr lang="en-US" sz="3200" b="1" i="0" dirty="0">
                <a:solidFill>
                  <a:srgbClr val="212121"/>
                </a:solidFill>
                <a:effectLst/>
                <a:latin typeface="Menlo"/>
              </a:rPr>
              <a:t>Effect</a:t>
            </a:r>
          </a:p>
          <a:p>
            <a:pPr algn="ctr"/>
            <a:r>
              <a:rPr lang="en-US" sz="3200" b="1" dirty="0" err="1">
                <a:solidFill>
                  <a:srgbClr val="212121"/>
                </a:solidFill>
                <a:latin typeface="Menlo"/>
              </a:rPr>
              <a:t>Nback</a:t>
            </a:r>
            <a:r>
              <a:rPr lang="en-US" sz="3200" b="1" dirty="0">
                <a:solidFill>
                  <a:srgbClr val="212121"/>
                </a:solidFill>
                <a:latin typeface="Menlo"/>
              </a:rPr>
              <a:t> reduces ‘</a:t>
            </a:r>
            <a:r>
              <a:rPr lang="en-US" sz="3200" b="1" dirty="0" err="1">
                <a:solidFill>
                  <a:srgbClr val="212121"/>
                </a:solidFill>
                <a:latin typeface="Menlo"/>
              </a:rPr>
              <a:t>extranociceptive</a:t>
            </a:r>
            <a:r>
              <a:rPr lang="en-US" sz="3200" b="1" dirty="0">
                <a:solidFill>
                  <a:srgbClr val="212121"/>
                </a:solidFill>
                <a:latin typeface="Menlo"/>
              </a:rPr>
              <a:t>’ engagement of pain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38646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CCAE7D-D73F-33AF-7002-2A29DDA15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1" y="1605518"/>
            <a:ext cx="6060239" cy="364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478D7E-BB2F-5FAE-6165-E835D63BF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05518"/>
            <a:ext cx="6060240" cy="3646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209906E-2B2F-FE42-2E32-7D829F4C7DC9}"/>
              </a:ext>
            </a:extLst>
          </p:cNvPr>
          <p:cNvSpPr/>
          <p:nvPr/>
        </p:nvSpPr>
        <p:spPr>
          <a:xfrm>
            <a:off x="2700068" y="2230622"/>
            <a:ext cx="914400" cy="22299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76014FC-7239-39D4-DF50-C28168A0CE5D}"/>
              </a:ext>
            </a:extLst>
          </p:cNvPr>
          <p:cNvSpPr/>
          <p:nvPr/>
        </p:nvSpPr>
        <p:spPr>
          <a:xfrm>
            <a:off x="8725619" y="2325513"/>
            <a:ext cx="914400" cy="21350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F9FB7B8-0A2F-EFE1-E9F8-5DC2EB23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Case Study: </a:t>
            </a:r>
            <a:r>
              <a:rPr lang="en-US" dirty="0" err="1"/>
              <a:t>AcceptMap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0031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3975EB3-E577-6345-E12F-707C46EA6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27"/>
            <a:ext cx="12192000" cy="663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920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27D31E-C8B8-2421-65A1-DA44DEA05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369"/>
            <a:ext cx="12192000" cy="6255262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C1B518FE-D7FC-726A-E445-B1EDAADC31A2}"/>
              </a:ext>
            </a:extLst>
          </p:cNvPr>
          <p:cNvSpPr txBox="1"/>
          <p:nvPr/>
        </p:nvSpPr>
        <p:spPr>
          <a:xfrm>
            <a:off x="1130060" y="3316857"/>
            <a:ext cx="3549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Body Site Main Effect for NPS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6A3D07C-AAD5-4AFB-DF88-A712FE7AEEDA}"/>
              </a:ext>
            </a:extLst>
          </p:cNvPr>
          <p:cNvSpPr txBox="1"/>
          <p:nvPr/>
        </p:nvSpPr>
        <p:spPr>
          <a:xfrm>
            <a:off x="7375584" y="3316857"/>
            <a:ext cx="3843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Acceptance Main Effect for NPS</a:t>
            </a:r>
          </a:p>
        </p:txBody>
      </p:sp>
    </p:spTree>
    <p:extLst>
      <p:ext uri="{BB962C8B-B14F-4D97-AF65-F5344CB8AC3E}">
        <p14:creationId xmlns:p14="http://schemas.microsoft.com/office/powerpoint/2010/main" val="34059010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4DFFBDB-0E14-2C89-A7BD-27E62A3FA9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82"/>
            <a:ext cx="12192000" cy="680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400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4EE546-66FE-0AEA-2C8B-F21FB95E2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731"/>
            <a:ext cx="12192000" cy="671090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D63DA75-03F0-5D84-1CEC-F8A86937819F}"/>
              </a:ext>
            </a:extLst>
          </p:cNvPr>
          <p:cNvSpPr txBox="1"/>
          <p:nvPr/>
        </p:nvSpPr>
        <p:spPr>
          <a:xfrm>
            <a:off x="332116" y="17364"/>
            <a:ext cx="3791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BodySite</a:t>
            </a:r>
            <a:r>
              <a:rPr lang="en-US" dirty="0"/>
              <a:t> x Acceptance Effect*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B5F3E6-F205-8F95-B15F-55415775CE22}"/>
              </a:ext>
            </a:extLst>
          </p:cNvPr>
          <p:cNvSpPr/>
          <p:nvPr/>
        </p:nvSpPr>
        <p:spPr>
          <a:xfrm>
            <a:off x="332116" y="6279768"/>
            <a:ext cx="1638300" cy="46482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860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9481F91-9E1E-D72D-47EA-E134A84B0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4397"/>
            <a:ext cx="12192000" cy="6209206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4309207-D3B3-2341-0F22-3FD60E743B2C}"/>
              </a:ext>
            </a:extLst>
          </p:cNvPr>
          <p:cNvSpPr txBox="1"/>
          <p:nvPr/>
        </p:nvSpPr>
        <p:spPr>
          <a:xfrm>
            <a:off x="909633" y="3105834"/>
            <a:ext cx="382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SIIPS Main Effect for Body Site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53F573-B399-8FFF-D528-FB8A239F22F5}"/>
              </a:ext>
            </a:extLst>
          </p:cNvPr>
          <p:cNvSpPr txBox="1"/>
          <p:nvPr/>
        </p:nvSpPr>
        <p:spPr>
          <a:xfrm>
            <a:off x="7700958" y="3105834"/>
            <a:ext cx="382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No SIIPS Main Effect for Acceptance</a:t>
            </a:r>
          </a:p>
        </p:txBody>
      </p:sp>
    </p:spTree>
    <p:extLst>
      <p:ext uri="{BB962C8B-B14F-4D97-AF65-F5344CB8AC3E}">
        <p14:creationId xmlns:p14="http://schemas.microsoft.com/office/powerpoint/2010/main" val="3077997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98876D-19C5-D30E-2CC1-F12E10E9A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703"/>
            <a:ext cx="12192000" cy="6796275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D9FA5C7-389B-2100-62D0-8CCCB5FCE357}"/>
              </a:ext>
            </a:extLst>
          </p:cNvPr>
          <p:cNvSpPr txBox="1"/>
          <p:nvPr/>
        </p:nvSpPr>
        <p:spPr>
          <a:xfrm>
            <a:off x="332117" y="3575985"/>
            <a:ext cx="1884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Experience</a:t>
            </a:r>
          </a:p>
          <a:p>
            <a:pPr algn="ctr"/>
            <a:r>
              <a:rPr lang="en-US" dirty="0"/>
              <a:t>Body Site Effect*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D648062-2A87-8D2B-271B-DF70C8F26113}"/>
              </a:ext>
            </a:extLst>
          </p:cNvPr>
          <p:cNvSpPr txBox="1"/>
          <p:nvPr/>
        </p:nvSpPr>
        <p:spPr>
          <a:xfrm>
            <a:off x="332117" y="-3978"/>
            <a:ext cx="21091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Left Face</a:t>
            </a:r>
          </a:p>
          <a:p>
            <a:pPr algn="ctr"/>
            <a:r>
              <a:rPr lang="en-US" dirty="0"/>
              <a:t>Acceptance Effect*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85B815D-1FBF-3224-AA2E-D708E9B1A922}"/>
              </a:ext>
            </a:extLst>
          </p:cNvPr>
          <p:cNvSpPr/>
          <p:nvPr/>
        </p:nvSpPr>
        <p:spPr>
          <a:xfrm>
            <a:off x="177800" y="6279767"/>
            <a:ext cx="2039188" cy="5125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60D7205-96D0-492B-7EE8-D469B98997FB}"/>
              </a:ext>
            </a:extLst>
          </p:cNvPr>
          <p:cNvSpPr/>
          <p:nvPr/>
        </p:nvSpPr>
        <p:spPr>
          <a:xfrm>
            <a:off x="177800" y="2660206"/>
            <a:ext cx="984250" cy="512529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FC9BA552-F648-26FE-542B-4A61FD93A98D}"/>
              </a:ext>
            </a:extLst>
          </p:cNvPr>
          <p:cNvSpPr txBox="1"/>
          <p:nvPr/>
        </p:nvSpPr>
        <p:spPr>
          <a:xfrm>
            <a:off x="-184989" y="2383207"/>
            <a:ext cx="291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Acceptance &gt; Experience*</a:t>
            </a: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22BD26BE-2450-38CD-301E-E91844D28517}"/>
              </a:ext>
            </a:extLst>
          </p:cNvPr>
          <p:cNvSpPr txBox="1"/>
          <p:nvPr/>
        </p:nvSpPr>
        <p:spPr>
          <a:xfrm>
            <a:off x="-184989" y="6002768"/>
            <a:ext cx="2919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/>
              <a:t>Other Body Site &gt; Left Face*</a:t>
            </a:r>
          </a:p>
        </p:txBody>
      </p:sp>
    </p:spTree>
    <p:extLst>
      <p:ext uri="{BB962C8B-B14F-4D97-AF65-F5344CB8AC3E}">
        <p14:creationId xmlns:p14="http://schemas.microsoft.com/office/powerpoint/2010/main" val="31135822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61462-7E1E-D081-8803-39E80F95D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Plan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1C38F-4259-E438-40EB-DFF418D47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Doesn’t yet commit to </a:t>
            </a:r>
            <a:r>
              <a:rPr lang="en-US" dirty="0" err="1"/>
              <a:t>canlab</a:t>
            </a:r>
            <a:r>
              <a:rPr lang="en-US" dirty="0"/>
              <a:t> / Always use objects?</a:t>
            </a:r>
          </a:p>
          <a:p>
            <a:r>
              <a:rPr lang="en-US" dirty="0"/>
              <a:t>Principle: Reuse core functionality. We should have only one </a:t>
            </a:r>
            <a:r>
              <a:rPr lang="en-US" b="1" i="1" dirty="0" err="1"/>
              <a:t>glm_fit</a:t>
            </a:r>
            <a:r>
              <a:rPr lang="en-US" b="1" i="1" dirty="0"/>
              <a:t>()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3479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D5B3A-59B0-021B-658A-58DAEDAB8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4B73C-9623-EF72-31FC-4696EC6DE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Should an </a:t>
            </a:r>
            <a:r>
              <a:rPr lang="en-US" dirty="0" err="1"/>
              <a:t>hrf</a:t>
            </a:r>
            <a:r>
              <a:rPr lang="en-US" dirty="0"/>
              <a:t> object hold </a:t>
            </a:r>
            <a:r>
              <a:rPr lang="en-US" b="1" dirty="0"/>
              <a:t>one model</a:t>
            </a:r>
            <a:r>
              <a:rPr lang="en-US" dirty="0"/>
              <a:t> or </a:t>
            </a:r>
            <a:r>
              <a:rPr lang="en-US" b="1" dirty="0"/>
              <a:t>multiple models</a:t>
            </a:r>
            <a:r>
              <a:rPr lang="en-US" dirty="0"/>
              <a:t> (so </a:t>
            </a:r>
            <a:r>
              <a:rPr lang="en-US" dirty="0" err="1"/>
              <a:t>H.sfir</a:t>
            </a:r>
            <a:r>
              <a:rPr lang="en-US" dirty="0"/>
              <a:t>, </a:t>
            </a:r>
            <a:r>
              <a:rPr lang="en-US" dirty="0" err="1"/>
              <a:t>H.canonical</a:t>
            </a:r>
            <a:r>
              <a:rPr lang="en-US" dirty="0"/>
              <a:t>, </a:t>
            </a:r>
            <a:r>
              <a:rPr lang="en-US" dirty="0" err="1"/>
              <a:t>H.spline</a:t>
            </a:r>
            <a:r>
              <a:rPr lang="en-US" dirty="0"/>
              <a:t> are siblings)? Single‑model is simpler; multi‑model is what the </a:t>
            </a:r>
            <a:r>
              <a:rPr lang="en-US" dirty="0" err="1"/>
              <a:t>misspec</a:t>
            </a:r>
            <a:r>
              <a:rPr lang="en-US" dirty="0"/>
              <a:t> pipeline needs. My instinct: single‑model class, plus an </a:t>
            </a:r>
            <a:r>
              <a:rPr lang="en-US" dirty="0" err="1"/>
              <a:t>hrf_set</a:t>
            </a:r>
            <a:r>
              <a:rPr lang="en-US" dirty="0"/>
              <a:t> container that holds a struct of </a:t>
            </a:r>
            <a:r>
              <a:rPr lang="en-US" dirty="0" err="1"/>
              <a:t>hrf</a:t>
            </a:r>
            <a:r>
              <a:rPr lang="en-US" dirty="0"/>
              <a:t> objects keyed by model name. </a:t>
            </a:r>
          </a:p>
          <a:p>
            <a:r>
              <a:rPr lang="en-US" dirty="0"/>
              <a:t>Should the 1D signature/ROI time series live on the </a:t>
            </a:r>
            <a:r>
              <a:rPr lang="en-US" dirty="0" err="1"/>
              <a:t>hrf</a:t>
            </a:r>
            <a:r>
              <a:rPr lang="en-US" dirty="0"/>
              <a:t> object, or on a parallel </a:t>
            </a:r>
            <a:r>
              <a:rPr lang="en-US" dirty="0" err="1"/>
              <a:t>hrf_timeseries</a:t>
            </a:r>
            <a:r>
              <a:rPr lang="en-US" dirty="0"/>
              <a:t> object? They share metadata but have very different storage. </a:t>
            </a:r>
          </a:p>
          <a:p>
            <a:r>
              <a:rPr lang="en-US" dirty="0"/>
              <a:t>Naming — </a:t>
            </a:r>
            <a:r>
              <a:rPr lang="en-US" dirty="0" err="1"/>
              <a:t>hrf</a:t>
            </a:r>
            <a:r>
              <a:rPr lang="en-US" dirty="0"/>
              <a:t> collides with the legacy </a:t>
            </a:r>
            <a:r>
              <a:rPr lang="en-US" dirty="0" err="1"/>
              <a:t>hrf</a:t>
            </a:r>
            <a:r>
              <a:rPr lang="en-US" dirty="0"/>
              <a:t> variable used throughout MATLAB SPM code. </a:t>
            </a:r>
            <a:r>
              <a:rPr lang="en-US" dirty="0" err="1"/>
              <a:t>canlab_hrf</a:t>
            </a:r>
            <a:r>
              <a:rPr lang="en-US" dirty="0"/>
              <a:t>, </a:t>
            </a:r>
            <a:r>
              <a:rPr lang="en-US" dirty="0" err="1"/>
              <a:t>HRFObject</a:t>
            </a:r>
            <a:r>
              <a:rPr lang="en-US" dirty="0"/>
              <a:t>, </a:t>
            </a:r>
            <a:r>
              <a:rPr lang="en-US" dirty="0" err="1"/>
              <a:t>hrf_response</a:t>
            </a:r>
            <a:r>
              <a:rPr lang="en-US" dirty="0"/>
              <a:t>? Tor's call.</a:t>
            </a:r>
          </a:p>
        </p:txBody>
      </p:sp>
    </p:spTree>
    <p:extLst>
      <p:ext uri="{BB962C8B-B14F-4D97-AF65-F5344CB8AC3E}">
        <p14:creationId xmlns:p14="http://schemas.microsoft.com/office/powerpoint/2010/main" val="4074208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2468</Words>
  <Application>Microsoft Office PowerPoint</Application>
  <PresentationFormat>Widescreen</PresentationFormat>
  <Paragraphs>218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Menlo</vt:lpstr>
      <vt:lpstr>Aptos</vt:lpstr>
      <vt:lpstr>Aptos Display</vt:lpstr>
      <vt:lpstr>Arial</vt:lpstr>
      <vt:lpstr>Courier New</vt:lpstr>
      <vt:lpstr>Office Theme</vt:lpstr>
      <vt:lpstr>HRF Analysis Code Map</vt:lpstr>
      <vt:lpstr>PowerPoint Presentation</vt:lpstr>
      <vt:lpstr>Basic Usage – Run Level Pipeline</vt:lpstr>
      <vt:lpstr>Basic Usage</vt:lpstr>
      <vt:lpstr>Basic Usage</vt:lpstr>
      <vt:lpstr>Study-Level Pipeline: Running Locally</vt:lpstr>
      <vt:lpstr>Study-Level Pipeline : Running Locally</vt:lpstr>
      <vt:lpstr>Study-Level Pipeline: HCP SLURM</vt:lpstr>
      <vt:lpstr>Study-Level Pipeline: HCP SLURM</vt:lpstr>
      <vt:lpstr>Study-Level Pipeline: HCP SLURM</vt:lpstr>
      <vt:lpstr>Study-Level Pipeline: Quality Control</vt:lpstr>
      <vt:lpstr>Study-Level Pipeline: Quality Control</vt:lpstr>
      <vt:lpstr>Study-Level Pipeline: Quality Control</vt:lpstr>
      <vt:lpstr>Study-Level Pipeline: Quality Control</vt:lpstr>
      <vt:lpstr>PowerPoint Presentation</vt:lpstr>
      <vt:lpstr>Case Study: DistractMap</vt:lpstr>
      <vt:lpstr>Case Study: DistractMap</vt:lpstr>
      <vt:lpstr>Case Study: DistractMap</vt:lpstr>
      <vt:lpstr>Case Study: DistractMap</vt:lpstr>
      <vt:lpstr>Case Study: DistractMap</vt:lpstr>
      <vt:lpstr>Case Study: AcceptMap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Plan Notes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Sun</dc:creator>
  <cp:lastModifiedBy>Michael Sun</cp:lastModifiedBy>
  <cp:revision>3</cp:revision>
  <dcterms:created xsi:type="dcterms:W3CDTF">2026-05-26T16:10:34Z</dcterms:created>
  <dcterms:modified xsi:type="dcterms:W3CDTF">2026-05-27T21:31:15Z</dcterms:modified>
</cp:coreProperties>
</file>