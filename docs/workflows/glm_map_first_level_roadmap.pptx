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50" b="1">
                <a:solidFill>
                  <a:srgbClr val="262626"/>
                </a:solidFill>
                <a:latin typeface="Calibri"/>
              </a:rPr>
              <a:t>CANlab workflow: first-level (single-subject) fMRI time-series GLM with glm_map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Events -&gt; HRF convolution -&gt; design matrix X, stacked across runs with nuisance regressors.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Import onsets, choose a basis set, screen, fit a BOLD time series (AR errors), threshold, visualize.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188720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BUILD &amp; SCREEN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188720"/>
            <a:ext cx="26517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35024"/>
            <a:ext cx="24688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Calibri"/>
              </a:rPr>
              <a:t>Get event info in: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514600" cy="51206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import_onsets
(FSL event table .csv/.xlsx)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251460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import_onsets
(SPM-style cell arrays)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79776"/>
            <a:ext cx="251460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import_SPM
(SPM.mat first-level)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364992"/>
            <a:ext cx="251460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glm_map(fmri_glm_design_matrix)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526280"/>
            <a:ext cx="2514600" cy="5486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00" b="0">
                <a:solidFill>
                  <a:srgbClr val="262626"/>
                </a:solidFill>
                <a:latin typeface="Cambria"/>
              </a:rPr>
              <a:t>simulate data (X·betas+noise)
or load run time series (fmri_data)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102352"/>
            <a:ext cx="24688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Calibri"/>
              </a:rPr>
              <a:t>(feeds fit, below)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71800" y="2560320"/>
            <a:ext cx="960120" cy="365760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481328"/>
            <a:ext cx="3017520" cy="47548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50" b="1">
                <a:solidFill>
                  <a:srgbClr val="262626"/>
                </a:solidFill>
                <a:latin typeface="Calibri"/>
              </a:rPr>
              <a:t>build_design  (onsets ⊛ basis set → 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011680"/>
            <a:ext cx="301752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replace_basis_set  (HRF → spline / + derivatives)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505456"/>
            <a:ext cx="3017520" cy="42062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add_contrasts / create_orthogonal_contrast_set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999232"/>
            <a:ext cx="3017520" cy="54864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run_diagnostics
VIF/cVIF (± nuisance) · efficiency · HP-filter cutoff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57600"/>
            <a:ext cx="301752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fit(g, timeseries, 'AR', 1 / 'robust')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669279" y="1975104"/>
            <a:ext cx="0" cy="18288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79" y="2468880"/>
            <a:ext cx="0" cy="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9279" y="2962656"/>
            <a:ext cx="0" cy="0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79" y="3584448"/>
            <a:ext cx="0" cy="36576"/>
          </a:xfrm>
          <a:prstGeom prst="line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64652" y="3897961"/>
            <a:ext cx="1265855" cy="881733"/>
          </a:xfrm>
          <a:prstGeom prst="bentConnector3">
            <a:avLst/>
          </a:prstGeom>
          <a:ln w="1016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60520" y="4443984"/>
            <a:ext cx="3017520" cy="5486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50" b="1">
                <a:solidFill>
                  <a:srgbClr val="262626"/>
                </a:solidFill>
                <a:latin typeface="Cambria"/>
              </a:rPr>
              <a:t>glm_map
betas · t · contrasts · diagnostics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79" y="4133088"/>
            <a:ext cx="0" cy="27432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71091" y="1722088"/>
            <a:ext cx="1252977" cy="103695"/>
          </a:xfrm>
          <a:prstGeom prst="line">
            <a:avLst/>
          </a:prstGeom>
          <a:ln w="63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66851" y="1736399"/>
            <a:ext cx="1261457" cy="678577"/>
          </a:xfrm>
          <a:prstGeom prst="line">
            <a:avLst/>
          </a:prstGeom>
          <a:ln w="63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60772" y="1744663"/>
            <a:ext cx="1273615" cy="1247265"/>
          </a:xfrm>
          <a:prstGeom prst="line">
            <a:avLst/>
          </a:prstGeom>
          <a:ln w="63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855899" y="1748835"/>
            <a:ext cx="1283361" cy="1796705"/>
          </a:xfrm>
          <a:prstGeom prst="line">
            <a:avLst/>
          </a:prstGeom>
          <a:ln w="63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7269480" y="4572000"/>
            <a:ext cx="502920" cy="310896"/>
          </a:xfrm>
          <a:prstGeom prst="right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1481328"/>
            <a:ext cx="2606040" cy="438912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threshold(g, p, type, 'k')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1993392"/>
            <a:ext cx="2606040" cy="512064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libri"/>
              </a:rPr>
              <a:t>montage(g) / canlab_results_fmridisplay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578608"/>
            <a:ext cx="2606040" cy="40233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table(g)  (atlas-labeled)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054096"/>
            <a:ext cx="26060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summary(g)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621024"/>
            <a:ext cx="2606040" cy="512064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thresholded t maps per event
(statistic_image) → region(t)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185629" y="1736563"/>
            <a:ext cx="624901" cy="2945961"/>
          </a:xfrm>
          <a:prstGeom prst="bentConnector3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21140" y="1956816"/>
            <a:ext cx="0" cy="1627632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21140" y="2542032"/>
            <a:ext cx="0" cy="1042416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21140" y="3017520"/>
            <a:ext cx="0" cy="566928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21140" y="3474720"/>
            <a:ext cx="0" cy="109728"/>
          </a:xfrm>
          <a:prstGeom prst="line">
            <a:avLst/>
          </a:prstGeom>
          <a:ln w="762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561320" y="1444752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1645920"/>
            <a:ext cx="155448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glm_map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fmri_glm_design_matrix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146304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20623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76656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932688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188720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897880"/>
            <a:ext cx="115214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Calibri"/>
              </a:rPr>
              <a:t>First-level designs are BUILT from event timing: onsets/durations are convolved with a basis set (canonical HRF by default) and stacked across runs with per-run intercepts; entered events are flagged of interest, motion / multiple_regressors as nuisance. Set g.is_timeseries = true to enable AR error models; run_diagnostics recommends a high-pass-filter cutoff (&lt; 5% variance lost) for the regressors and contrasts.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