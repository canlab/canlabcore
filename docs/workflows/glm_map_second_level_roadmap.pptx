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"/>
            <a:ext cx="8503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700" b="1">
                <a:solidFill>
                  <a:srgbClr val="262626"/>
                </a:solidFill>
                <a:latin typeface="Calibri"/>
              </a:rPr>
              <a:t>CANlab workflow: second-level (group) GLM with glm_map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66928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One image per subject (a contrast map) regressed on a static design matrix X at every voxel.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Build the object with fmri_data.regress or the glm_map estimator API; screen, fit (OLS/robust), threshold, visualize.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1188720"/>
            <a:ext cx="28346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BUILD THE OBJECT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26679" y="1188720"/>
            <a:ext cx="26517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2468880" cy="566928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Contrast images
(fmri_data, [voxels x subjects])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240280"/>
            <a:ext cx="2468880" cy="530352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950" b="0">
                <a:solidFill>
                  <a:srgbClr val="262626"/>
                </a:solidFill>
                <a:latin typeface="Calibri"/>
              </a:rPr>
              <a:t>outliers('notimeseries')
-&gt; exclude with get_wh_image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926080"/>
            <a:ext cx="2468880" cy="47548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950" b="0">
                <a:solidFill>
                  <a:srgbClr val="262626"/>
                </a:solidFill>
                <a:latin typeface="Calibri"/>
              </a:rPr>
              <a:t>extract_gray_white_csf
-&gt; WM / CSF nuisance cols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529584"/>
            <a:ext cx="2468880" cy="47548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950" b="0">
                <a:solidFill>
                  <a:srgbClr val="262626"/>
                </a:solidFill>
                <a:latin typeface="Calibri"/>
              </a:rPr>
              <a:t>normalize_gm_by_wm_csf
(rescale gray matter)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297680"/>
            <a:ext cx="2468880" cy="530352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dat.X = predictors +
nuisance + intercept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54480" y="2807208"/>
            <a:ext cx="0" cy="1453896"/>
          </a:xfrm>
          <a:prstGeom prst="line">
            <a:avLst/>
          </a:prstGeom>
          <a:ln w="1016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54480" y="3438144"/>
            <a:ext cx="0" cy="822960"/>
          </a:xfrm>
          <a:prstGeom prst="line">
            <a:avLst/>
          </a:prstGeom>
          <a:ln w="1016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554480" y="4041648"/>
            <a:ext cx="0" cy="219456"/>
          </a:xfrm>
          <a:prstGeom prst="line">
            <a:avLst/>
          </a:prstGeom>
          <a:ln w="1016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554480" y="2066544"/>
            <a:ext cx="0" cy="137160"/>
          </a:xfrm>
          <a:prstGeom prst="line">
            <a:avLst/>
          </a:prstGeom>
          <a:ln w="1016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ight Arrow 14"/>
          <p:cNvSpPr/>
          <p:nvPr/>
        </p:nvSpPr>
        <p:spPr>
          <a:xfrm>
            <a:off x="2926080" y="2331720"/>
            <a:ext cx="1005840" cy="365760"/>
          </a:xfrm>
          <a:prstGeom prst="right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20" y="1463040"/>
            <a:ext cx="2834640" cy="50292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50" b="1">
                <a:solidFill>
                  <a:srgbClr val="262626"/>
                </a:solidFill>
                <a:latin typeface="Calibri"/>
              </a:rPr>
              <a:t>regress(dat, p, type[, 'robust'])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1975104"/>
            <a:ext cx="28346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Calibri"/>
              </a:rPr>
              <a:t>the quick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219456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1">
                <a:solidFill>
                  <a:srgbClr val="262626"/>
                </a:solidFill>
                <a:latin typeface="Calibri"/>
              </a:rPr>
              <a:t>— or, the estimator API 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20" y="2432304"/>
            <a:ext cx="2834640" cy="438912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libri"/>
              </a:rPr>
              <a:t>glm_map('X', X, 'level', 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944368"/>
            <a:ext cx="2834640" cy="438912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950" b="0">
                <a:solidFill>
                  <a:srgbClr val="262626"/>
                </a:solidFill>
                <a:latin typeface="Calibri"/>
              </a:rPr>
              <a:t>add_contrasts / create_orthogonal_contrast_set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3456432"/>
            <a:ext cx="2834640" cy="438912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950" b="0">
                <a:solidFill>
                  <a:srgbClr val="262626"/>
                </a:solidFill>
                <a:latin typeface="Calibri"/>
              </a:rPr>
              <a:t>run_diagnostics  (VIF/cVIF, efficiency)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968496"/>
            <a:ext cx="2834640" cy="438912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libri"/>
              </a:rPr>
              <a:t>fit(g, dat[, 'robust'])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577840" y="2907792"/>
            <a:ext cx="0" cy="0"/>
          </a:xfrm>
          <a:prstGeom prst="line">
            <a:avLst/>
          </a:prstGeom>
          <a:ln w="1016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577840" y="3419856"/>
            <a:ext cx="0" cy="0"/>
          </a:xfrm>
          <a:prstGeom prst="line">
            <a:avLst/>
          </a:prstGeom>
          <a:ln w="1016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577840" y="3931920"/>
            <a:ext cx="0" cy="0"/>
          </a:xfrm>
          <a:prstGeom prst="line">
            <a:avLst/>
          </a:prstGeom>
          <a:ln w="1016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160520" y="4754880"/>
            <a:ext cx="2834640" cy="566928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50" b="1">
                <a:solidFill>
                  <a:srgbClr val="262626"/>
                </a:solidFill>
                <a:latin typeface="Cambria"/>
              </a:rPr>
              <a:t>glm_map
betas · t · contrasts · diagnostics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5593293" y="1747650"/>
            <a:ext cx="1386413" cy="2974079"/>
          </a:xfrm>
          <a:prstGeom prst="bentConnector3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577840" y="4443984"/>
            <a:ext cx="0" cy="274320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810246" y="2681475"/>
            <a:ext cx="1328947" cy="1851665"/>
          </a:xfrm>
          <a:prstGeom prst="line">
            <a:avLst/>
          </a:prstGeom>
          <a:ln w="1016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ight Arrow 29"/>
          <p:cNvSpPr/>
          <p:nvPr/>
        </p:nvSpPr>
        <p:spPr>
          <a:xfrm>
            <a:off x="7086600" y="4892040"/>
            <a:ext cx="548640" cy="310896"/>
          </a:xfrm>
          <a:prstGeom prst="right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26679" y="1463040"/>
            <a:ext cx="2697480" cy="438912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libri"/>
              </a:rPr>
              <a:t>threshold(g, p, type, 'k')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26679" y="1975104"/>
            <a:ext cx="2697480" cy="420624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libri"/>
              </a:rPr>
              <a:t>table(g)  (atlas-labeled)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26679" y="2468880"/>
            <a:ext cx="2697480" cy="512064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950" b="0">
                <a:solidFill>
                  <a:srgbClr val="262626"/>
                </a:solidFill>
                <a:latin typeface="Calibri"/>
              </a:rPr>
              <a:t>montage(g) / canlab_results_fmridisplay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26679" y="3054096"/>
            <a:ext cx="2697480" cy="40233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libri"/>
              </a:rPr>
              <a:t>summary(g)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26679" y="3657600"/>
            <a:ext cx="2697480" cy="530352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950" b="0">
                <a:solidFill>
                  <a:srgbClr val="262626"/>
                </a:solidFill>
                <a:latin typeface="Cambria"/>
              </a:rPr>
              <a:t>thresholded t / contrast maps
(statistic_image) -&gt; region(t)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7002950" y="1718232"/>
            <a:ext cx="715939" cy="3284375"/>
          </a:xfrm>
          <a:prstGeom prst="bentConnector3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075419" y="1938528"/>
            <a:ext cx="0" cy="1682496"/>
          </a:xfrm>
          <a:prstGeom prst="line">
            <a:avLst/>
          </a:prstGeom>
          <a:ln w="762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075419" y="2432304"/>
            <a:ext cx="0" cy="1188720"/>
          </a:xfrm>
          <a:prstGeom prst="line">
            <a:avLst/>
          </a:prstGeom>
          <a:ln w="762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075419" y="3017520"/>
            <a:ext cx="0" cy="603504"/>
          </a:xfrm>
          <a:prstGeom prst="line">
            <a:avLst/>
          </a:prstGeom>
          <a:ln w="762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075419" y="3493008"/>
            <a:ext cx="0" cy="128016"/>
          </a:xfrm>
          <a:prstGeom prst="line">
            <a:avLst/>
          </a:prstGeom>
          <a:ln w="762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0561320" y="1444752"/>
            <a:ext cx="14173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Calibri"/>
              </a:rPr>
              <a:t>Object types: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61320" y="1645920"/>
            <a:ext cx="1417320" cy="8595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fmri_data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glm_map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statistic_image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region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146304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Legend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420623"/>
            <a:ext cx="18288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Custom scripts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676656"/>
            <a:ext cx="1828800" cy="21945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CANlab Core functions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932688"/>
            <a:ext cx="1828800" cy="219456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Key variables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1188720"/>
            <a:ext cx="1828800" cy="219456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Files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5852160"/>
            <a:ext cx="1152144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Calibri"/>
              </a:rPr>
              <a:t>Second-level designs are STATIC: X is prespecified (no onsets to convolve). Center continuous predictors so the intercept maps the group average. Mark covariates of no interest with g.nuisance_columns so diagnostics report VIFs with and without them. Robust regression down-weights influential subjects voxelwise (vs. hard exclusion).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