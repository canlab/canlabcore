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libri"/>
              </a:rPr>
              <a:t>CANlab workflow: extracting data from brain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dirty="0">
                <a:solidFill>
                  <a:srgbClr val="262626"/>
                </a:solidFill>
                <a:latin typeface="Calibri"/>
              </a:rPr>
              <a:t>Choose a method by what you want to summarize: ROI means, multivariate pattern / signature responses,</a:t>
            </a:r>
          </a:p>
          <a:p>
            <a:pPr algn="ctr"/>
            <a:r>
              <a:rPr sz="1100" b="0" dirty="0">
                <a:solidFill>
                  <a:srgbClr val="262626"/>
                </a:solidFill>
                <a:latin typeface="Calibri"/>
              </a:rPr>
              <a:t>whole-atlas parcel means, gray / white / CSF compartments, or spheres around coordinates.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18872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EXTRACTION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188720"/>
            <a:ext cx="26517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WHAT YOU 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81328"/>
            <a:ext cx="2331720" cy="603504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262626"/>
                </a:solidFill>
                <a:latin typeface="Cambria"/>
              </a:rPr>
              <a:t>Data image
(fmri_data / image_vector)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331720"/>
            <a:ext cx="2331720" cy="7315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262626"/>
                </a:solidFill>
                <a:latin typeface="Cambria"/>
              </a:rPr>
              <a:t>Region definition
mask · region · atlas · weight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7294" y="3194326"/>
            <a:ext cx="1234434" cy="4755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dirty="0">
                <a:solidFill>
                  <a:srgbClr val="262626"/>
                </a:solidFill>
                <a:latin typeface="Calibri"/>
              </a:rPr>
              <a:t>Every method takes a data image + a region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459" y="3621024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dirty="0">
                <a:solidFill>
                  <a:srgbClr val="262626"/>
                </a:solidFill>
                <a:latin typeface="Calibri"/>
              </a:rPr>
              <a:t>Make a region definition: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858768"/>
            <a:ext cx="2331720" cy="47548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sphere_mask /
sphere_roi_tool_2008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443984"/>
            <a:ext cx="2331720" cy="42062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draw_anatomical_roi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974336"/>
            <a:ext cx="2331720" cy="42062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50" b="0" dirty="0" err="1">
                <a:solidFill>
                  <a:srgbClr val="262626"/>
                </a:solidFill>
                <a:latin typeface="Calibri"/>
              </a:rPr>
              <a:t>canlab_load_ROI</a:t>
            </a:r>
            <a:endParaRPr sz="950" b="0" dirty="0">
              <a:solidFill>
                <a:srgbClr val="262626"/>
              </a:solidFill>
              <a:latin typeface="Calibri"/>
            </a:endParaRPr>
          </a:p>
        </p:txBody>
      </p:sp>
      <p:cxnSp>
        <p:nvCxnSpPr>
          <p:cNvPr id="13" name="Connector 12"/>
          <p:cNvCxnSpPr>
            <a:cxnSpLocks/>
            <a:stCxn id="9" idx="0"/>
            <a:endCxn id="7" idx="2"/>
          </p:cNvCxnSpPr>
          <p:nvPr/>
        </p:nvCxnSpPr>
        <p:spPr>
          <a:xfrm flipV="1">
            <a:off x="1482179" y="3063240"/>
            <a:ext cx="3721" cy="557784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6240" y="1481328"/>
            <a:ext cx="2743200" cy="60350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262626"/>
                </a:solidFill>
                <a:latin typeface="Calibri"/>
              </a:rPr>
              <a:t>extract_roi_averages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481328"/>
            <a:ext cx="2651760" cy="603504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ROI means
(region object)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86016" y="1783080"/>
            <a:ext cx="566928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06240" y="2322576"/>
            <a:ext cx="2743200" cy="60350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262626"/>
                </a:solidFill>
                <a:latin typeface="Calibri"/>
              </a:rPr>
              <a:t>apply_parcellation
(atlas.extract_data)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322576"/>
            <a:ext cx="2651760" cy="603504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[images × parcels]
matrix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86016" y="2624328"/>
            <a:ext cx="566928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206240" y="3163824"/>
            <a:ext cx="2743200" cy="60350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262626"/>
                </a:solidFill>
                <a:latin typeface="Calibri"/>
              </a:rPr>
              <a:t>apply_mask
('pattern_expression')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163824"/>
            <a:ext cx="2651760" cy="603504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Pattern / signature
response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86016" y="3465576"/>
            <a:ext cx="566928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206240" y="4005072"/>
            <a:ext cx="2743200" cy="60350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262626"/>
                </a:solidFill>
                <a:latin typeface="Calibri"/>
              </a:rPr>
              <a:t>region.extract_data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4005072"/>
            <a:ext cx="2651760" cy="603504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region.dat
(no resampling)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86016" y="4306824"/>
            <a:ext cx="566928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206240" y="4846320"/>
            <a:ext cx="2743200" cy="60350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262626"/>
                </a:solidFill>
                <a:latin typeface="Calibri"/>
              </a:rPr>
              <a:t>extract_gray_white_csf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4846320"/>
            <a:ext cx="2651760" cy="603504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GM / WM / CSF means
+ components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86016" y="5148072"/>
            <a:ext cx="566928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88336" y="1783080"/>
            <a:ext cx="1481327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84551" y="2713682"/>
            <a:ext cx="1488897" cy="735691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43000" y="326313"/>
            <a:ext cx="1508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27481"/>
            <a:ext cx="1508760" cy="85953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dirty="0" err="1">
                <a:solidFill>
                  <a:srgbClr val="262626"/>
                </a:solidFill>
                <a:latin typeface="Calibri"/>
              </a:rPr>
              <a:t>fmri_data</a:t>
            </a:r>
            <a:endParaRPr sz="1000" b="0" dirty="0">
              <a:solidFill>
                <a:srgbClr val="262626"/>
              </a:solidFill>
              <a:latin typeface="Calibri"/>
            </a:endParaRPr>
          </a:p>
          <a:p>
            <a:pPr algn="l"/>
            <a:r>
              <a:rPr sz="1000" b="0" dirty="0" err="1">
                <a:solidFill>
                  <a:srgbClr val="262626"/>
                </a:solidFill>
                <a:latin typeface="Calibri"/>
              </a:rPr>
              <a:t>image_vector</a:t>
            </a:r>
            <a:endParaRPr sz="1000" b="0" dirty="0">
              <a:solidFill>
                <a:srgbClr val="262626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262626"/>
                </a:solidFill>
                <a:latin typeface="Calibri"/>
              </a:rPr>
              <a:t>atlas</a:t>
            </a:r>
          </a:p>
          <a:p>
            <a:pPr algn="l"/>
            <a:r>
              <a:rPr sz="1000" b="0" dirty="0">
                <a:solidFill>
                  <a:srgbClr val="262626"/>
                </a:solidFill>
                <a:latin typeface="Calibri"/>
              </a:rPr>
              <a:t>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137160"/>
            <a:ext cx="12801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49840" y="411479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36576" bIns="18288" rtlCol="0" anchor="ctr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66751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36576" bIns="18288" rtlCol="0" anchor="ctr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92354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36576" bIns="18288" rtlCol="0" anchor="ctr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0" y="117957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36576" bIns="18288" rtlCol="0" anchor="ctr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263640"/>
            <a:ext cx="115214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dirty="0">
                <a:solidFill>
                  <a:srgbClr val="262626"/>
                </a:solidFill>
                <a:latin typeface="Calibri"/>
              </a:rPr>
              <a:t>Spaces &amp; resampling:  methods assume every image is registered to the same template space (e.g. MNI). Differing voxel grids are resampled automatically onto the data’s grid (nearest-neighbor for integer atlases); call </a:t>
            </a:r>
            <a:r>
              <a:rPr sz="950" b="0" dirty="0" err="1">
                <a:solidFill>
                  <a:srgbClr val="262626"/>
                </a:solidFill>
                <a:latin typeface="Calibri"/>
              </a:rPr>
              <a:t>resample_space</a:t>
            </a:r>
            <a:r>
              <a:rPr sz="950" b="0" dirty="0">
                <a:solidFill>
                  <a:srgbClr val="262626"/>
                </a:solidFill>
                <a:latin typeface="Calibri"/>
              </a:rPr>
              <a:t>(a, b) to </a:t>
            </a:r>
            <a:r>
              <a:rPr sz="950" b="0" dirty="0" err="1">
                <a:solidFill>
                  <a:srgbClr val="262626"/>
                </a:solidFill>
                <a:latin typeface="Calibri"/>
              </a:rPr>
              <a:t>reslice</a:t>
            </a:r>
            <a:r>
              <a:rPr sz="950" b="0" dirty="0">
                <a:solidFill>
                  <a:srgbClr val="262626"/>
                </a:solidFill>
                <a:latin typeface="Calibri"/>
              </a:rPr>
              <a:t> manually. </a:t>
            </a:r>
            <a:r>
              <a:rPr sz="950" b="0" dirty="0" err="1">
                <a:solidFill>
                  <a:srgbClr val="262626"/>
                </a:solidFill>
                <a:latin typeface="Calibri"/>
              </a:rPr>
              <a:t>region.extract_data</a:t>
            </a:r>
            <a:r>
              <a:rPr sz="950" b="0" dirty="0">
                <a:solidFill>
                  <a:srgbClr val="262626"/>
                </a:solidFill>
                <a:latin typeface="Calibri"/>
              </a:rPr>
              <a:t> matches mm coordinates with no resampling.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AEE351-AA3B-357D-AB36-17830FE83DFD}"/>
              </a:ext>
            </a:extLst>
          </p:cNvPr>
          <p:cNvSpPr/>
          <p:nvPr/>
        </p:nvSpPr>
        <p:spPr>
          <a:xfrm>
            <a:off x="320040" y="5527229"/>
            <a:ext cx="2331720" cy="42062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n-US" sz="950" b="0" dirty="0" err="1">
                <a:solidFill>
                  <a:srgbClr val="262626"/>
                </a:solidFill>
                <a:latin typeface="Calibri"/>
              </a:rPr>
              <a:t>load_image_set</a:t>
            </a:r>
            <a:endParaRPr lang="en-US" sz="950" dirty="0">
              <a:solidFill>
                <a:srgbClr val="262626"/>
              </a:solidFill>
              <a:latin typeface="Calibri"/>
            </a:endParaRPr>
          </a:p>
          <a:p>
            <a:pPr algn="ctr"/>
            <a:r>
              <a:rPr lang="en-US" sz="950" b="0" dirty="0">
                <a:solidFill>
                  <a:srgbClr val="262626"/>
                </a:solidFill>
                <a:latin typeface="Calibri"/>
              </a:rPr>
              <a:t>(for signatures, network maps, &amp; more)</a:t>
            </a:r>
            <a:endParaRPr sz="950" b="0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280</Words>
  <Application>Microsoft Macintosh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Tor D. Wager</cp:lastModifiedBy>
  <cp:revision>2</cp:revision>
  <dcterms:created xsi:type="dcterms:W3CDTF">2013-01-27T09:14:16Z</dcterms:created>
  <dcterms:modified xsi:type="dcterms:W3CDTF">2026-06-18T20:57:33Z</dcterms:modified>
  <cp:category/>
</cp:coreProperties>
</file>