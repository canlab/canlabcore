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0" y="137160"/>
            <a:ext cx="8503920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900" b="1">
                <a:solidFill>
                  <a:srgbClr val="262626"/>
                </a:solidFill>
                <a:latin typeface="Calibri"/>
              </a:rPr>
              <a:t>CANlab workflow: extracting data from brain regions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566928"/>
            <a:ext cx="6400800" cy="5029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100" b="0" dirty="0">
                <a:solidFill>
                  <a:srgbClr val="262626"/>
                </a:solidFill>
                <a:latin typeface="Calibri"/>
              </a:rPr>
              <a:t>Choose a method by what you want to summarize: ROI means, multivariate pattern / signature responses,</a:t>
            </a:r>
          </a:p>
          <a:p>
            <a:pPr algn="ctr"/>
            <a:r>
              <a:rPr sz="1100" b="0" dirty="0">
                <a:solidFill>
                  <a:srgbClr val="262626"/>
                </a:solidFill>
                <a:latin typeface="Calibri"/>
              </a:rPr>
              <a:t>whole-atlas parcel means, gray / white / CSF compartments, or spheres around coordinates.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1188720"/>
            <a:ext cx="2743200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200" b="1">
                <a:solidFill>
                  <a:srgbClr val="262626"/>
                </a:solidFill>
                <a:latin typeface="Calibri"/>
              </a:rPr>
              <a:t>EXTRACTION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188720"/>
            <a:ext cx="2651760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200" b="1">
                <a:solidFill>
                  <a:srgbClr val="262626"/>
                </a:solidFill>
                <a:latin typeface="Calibri"/>
              </a:rPr>
              <a:t>WHAT YOU 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81328"/>
            <a:ext cx="2331720" cy="603504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50" b="0">
                <a:solidFill>
                  <a:srgbClr val="262626"/>
                </a:solidFill>
                <a:latin typeface="Cambria"/>
              </a:rPr>
              <a:t>Data image
(fmri_data / image_vector)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331720"/>
            <a:ext cx="2331720" cy="731520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50" b="0">
                <a:solidFill>
                  <a:srgbClr val="262626"/>
                </a:solidFill>
                <a:latin typeface="Cambria"/>
              </a:rPr>
              <a:t>Region definition
mask · region · atlas · weight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47294" y="3194326"/>
            <a:ext cx="1234434" cy="475515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950" b="0" dirty="0">
                <a:solidFill>
                  <a:srgbClr val="262626"/>
                </a:solidFill>
                <a:latin typeface="Calibri"/>
              </a:rPr>
              <a:t>Every method takes a data image + a region definition.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3459" y="3621024"/>
            <a:ext cx="2377440" cy="20116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000" b="1" dirty="0">
                <a:solidFill>
                  <a:srgbClr val="262626"/>
                </a:solidFill>
                <a:latin typeface="Calibri"/>
              </a:rPr>
              <a:t>Make a region definition: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3858768"/>
            <a:ext cx="2331720" cy="475488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50" b="0">
                <a:solidFill>
                  <a:srgbClr val="262626"/>
                </a:solidFill>
                <a:latin typeface="Calibri"/>
              </a:rPr>
              <a:t>sphere_mask /
sphere_roi_tool_2008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4443984"/>
            <a:ext cx="2331720" cy="420624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50" b="0">
                <a:solidFill>
                  <a:srgbClr val="262626"/>
                </a:solidFill>
                <a:latin typeface="Calibri"/>
              </a:rPr>
              <a:t>draw_anatomical_roi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4974336"/>
            <a:ext cx="2331720" cy="420624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50" b="0" dirty="0" err="1">
                <a:solidFill>
                  <a:srgbClr val="262626"/>
                </a:solidFill>
                <a:latin typeface="Calibri"/>
              </a:rPr>
              <a:t>canlab_load_ROI</a:t>
            </a:r>
            <a:endParaRPr sz="950" b="0" dirty="0">
              <a:solidFill>
                <a:srgbClr val="262626"/>
              </a:solidFill>
              <a:latin typeface="Calibri"/>
            </a:endParaRPr>
          </a:p>
        </p:txBody>
      </p:sp>
      <p:cxnSp>
        <p:nvCxnSpPr>
          <p:cNvPr id="13" name="Connector 12"/>
          <p:cNvCxnSpPr>
            <a:cxnSpLocks/>
            <a:stCxn id="9" idx="0"/>
            <a:endCxn id="7" idx="2"/>
          </p:cNvCxnSpPr>
          <p:nvPr/>
        </p:nvCxnSpPr>
        <p:spPr>
          <a:xfrm flipV="1">
            <a:off x="1482179" y="3063240"/>
            <a:ext cx="3721" cy="557784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4206240" y="1481328"/>
            <a:ext cx="2743200" cy="603504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50" b="1">
                <a:solidFill>
                  <a:srgbClr val="262626"/>
                </a:solidFill>
                <a:latin typeface="Calibri"/>
              </a:rPr>
              <a:t>extract_roi_averages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1481328"/>
            <a:ext cx="2651760" cy="603504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0">
                <a:solidFill>
                  <a:srgbClr val="262626"/>
                </a:solidFill>
                <a:latin typeface="Cambria"/>
              </a:rPr>
              <a:t>ROI means
(region object)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86016" y="1783080"/>
            <a:ext cx="566928" cy="0"/>
          </a:xfrm>
          <a:prstGeom prst="line">
            <a:avLst/>
          </a:prstGeom>
          <a:ln w="15875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206240" y="2322576"/>
            <a:ext cx="2743200" cy="603504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50" b="0">
                <a:solidFill>
                  <a:srgbClr val="262626"/>
                </a:solidFill>
                <a:latin typeface="Calibri"/>
              </a:rPr>
              <a:t>apply_parcellation
(atlas.extract_data)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9520" y="2322576"/>
            <a:ext cx="2651760" cy="603504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0">
                <a:solidFill>
                  <a:srgbClr val="262626"/>
                </a:solidFill>
                <a:latin typeface="Cambria"/>
              </a:rPr>
              <a:t>[images × parcels]
matrix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986016" y="2624328"/>
            <a:ext cx="566928" cy="0"/>
          </a:xfrm>
          <a:prstGeom prst="line">
            <a:avLst/>
          </a:prstGeom>
          <a:ln w="15875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206240" y="3163824"/>
            <a:ext cx="2743200" cy="603504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50" b="0">
                <a:solidFill>
                  <a:srgbClr val="262626"/>
                </a:solidFill>
                <a:latin typeface="Calibri"/>
              </a:rPr>
              <a:t>apply_mask
('pattern_expression')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89520" y="3163824"/>
            <a:ext cx="2651760" cy="603504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0">
                <a:solidFill>
                  <a:srgbClr val="262626"/>
                </a:solidFill>
                <a:latin typeface="Cambria"/>
              </a:rPr>
              <a:t>Pattern / signature
response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986016" y="3465576"/>
            <a:ext cx="566928" cy="0"/>
          </a:xfrm>
          <a:prstGeom prst="line">
            <a:avLst/>
          </a:prstGeom>
          <a:ln w="15875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4206240" y="4005072"/>
            <a:ext cx="2743200" cy="603504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50" b="0">
                <a:solidFill>
                  <a:srgbClr val="262626"/>
                </a:solidFill>
                <a:latin typeface="Calibri"/>
              </a:rPr>
              <a:t>region.extract_data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20" y="4005072"/>
            <a:ext cx="2651760" cy="603504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0">
                <a:solidFill>
                  <a:srgbClr val="262626"/>
                </a:solidFill>
                <a:latin typeface="Cambria"/>
              </a:rPr>
              <a:t>region.dat
(no resampling)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986016" y="4306824"/>
            <a:ext cx="566928" cy="0"/>
          </a:xfrm>
          <a:prstGeom prst="line">
            <a:avLst/>
          </a:prstGeom>
          <a:ln w="15875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4206240" y="4846320"/>
            <a:ext cx="2743200" cy="603504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50" b="0">
                <a:solidFill>
                  <a:srgbClr val="262626"/>
                </a:solidFill>
                <a:latin typeface="Calibri"/>
              </a:rPr>
              <a:t>extract_gray_white_csf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89520" y="4846320"/>
            <a:ext cx="2651760" cy="603504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0">
                <a:solidFill>
                  <a:srgbClr val="262626"/>
                </a:solidFill>
                <a:latin typeface="Cambria"/>
              </a:rPr>
              <a:t>GM / WM / CSF means
+ components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986016" y="5148072"/>
            <a:ext cx="566928" cy="0"/>
          </a:xfrm>
          <a:prstGeom prst="line">
            <a:avLst/>
          </a:prstGeom>
          <a:ln w="15875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688336" y="1783080"/>
            <a:ext cx="1481327" cy="0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684551" y="2713682"/>
            <a:ext cx="1488897" cy="735691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43000" y="326313"/>
            <a:ext cx="1508760" cy="20116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Calibri"/>
              </a:rPr>
              <a:t>Object types: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527481"/>
            <a:ext cx="1508760" cy="85953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000" b="0" dirty="0" err="1">
                <a:solidFill>
                  <a:srgbClr val="262626"/>
                </a:solidFill>
                <a:latin typeface="Calibri"/>
              </a:rPr>
              <a:t>fmri_data</a:t>
            </a:r>
            <a:endParaRPr sz="1000" b="0" dirty="0">
              <a:solidFill>
                <a:srgbClr val="262626"/>
              </a:solidFill>
              <a:latin typeface="Calibri"/>
            </a:endParaRPr>
          </a:p>
          <a:p>
            <a:pPr algn="l"/>
            <a:r>
              <a:rPr sz="1000" b="0" dirty="0" err="1">
                <a:solidFill>
                  <a:srgbClr val="262626"/>
                </a:solidFill>
                <a:latin typeface="Calibri"/>
              </a:rPr>
              <a:t>image_vector</a:t>
            </a:r>
            <a:endParaRPr sz="1000" b="0" dirty="0">
              <a:solidFill>
                <a:srgbClr val="262626"/>
              </a:solidFill>
              <a:latin typeface="Calibri"/>
            </a:endParaRPr>
          </a:p>
          <a:p>
            <a:pPr algn="l"/>
            <a:r>
              <a:rPr sz="1000" b="0" dirty="0">
                <a:solidFill>
                  <a:srgbClr val="262626"/>
                </a:solidFill>
                <a:latin typeface="Calibri"/>
              </a:rPr>
              <a:t>atlas</a:t>
            </a:r>
          </a:p>
          <a:p>
            <a:pPr algn="l"/>
            <a:r>
              <a:rPr sz="1000" b="0" dirty="0">
                <a:solidFill>
                  <a:srgbClr val="262626"/>
                </a:solidFill>
                <a:latin typeface="Calibri"/>
              </a:rPr>
              <a:t>region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09059" y="105369"/>
            <a:ext cx="1280160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200" b="1" dirty="0">
                <a:solidFill>
                  <a:srgbClr val="262626"/>
                </a:solidFill>
                <a:latin typeface="Calibri"/>
              </a:rPr>
              <a:t>Legend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49840" y="356722"/>
            <a:ext cx="182880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18288" rIns="36576" bIns="18288" rtlCol="0" anchor="ctr"/>
          <a:lstStyle/>
          <a:p>
            <a:pPr algn="l"/>
            <a:r>
              <a:rPr sz="1000">
                <a:solidFill>
                  <a:srgbClr val="262626"/>
                </a:solidFill>
                <a:latin typeface="Calibri"/>
              </a:rPr>
              <a:t>Custom scripts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0" y="612755"/>
            <a:ext cx="1828800" cy="219456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18288" rIns="36576" bIns="18288" rtlCol="0" anchor="ctr"/>
          <a:lstStyle/>
          <a:p>
            <a:pPr algn="l"/>
            <a:r>
              <a:rPr sz="1000">
                <a:solidFill>
                  <a:srgbClr val="262626"/>
                </a:solidFill>
                <a:latin typeface="Calibri"/>
              </a:rPr>
              <a:t>CANlab Core functions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149840" y="868787"/>
            <a:ext cx="1828800" cy="219456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18288" rIns="36576" bIns="18288" rtlCol="0" anchor="ctr"/>
          <a:lstStyle/>
          <a:p>
            <a:pPr algn="l"/>
            <a:r>
              <a:rPr sz="1000">
                <a:solidFill>
                  <a:srgbClr val="262626"/>
                </a:solidFill>
                <a:latin typeface="Calibri"/>
              </a:rPr>
              <a:t>Key variables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49840" y="1124819"/>
            <a:ext cx="1828800" cy="219456"/>
          </a:xfrm>
          <a:prstGeom prst="rect">
            <a:avLst/>
          </a:prstGeom>
          <a:solidFill>
            <a:srgbClr val="FCE5B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18288" rIns="36576" bIns="18288" rtlCol="0" anchor="ctr"/>
          <a:lstStyle/>
          <a:p>
            <a:pPr algn="l"/>
            <a:r>
              <a:rPr sz="1000">
                <a:solidFill>
                  <a:srgbClr val="262626"/>
                </a:solidFill>
                <a:latin typeface="Calibri"/>
              </a:rPr>
              <a:t>Files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91821" y="5669938"/>
            <a:ext cx="7629565" cy="71404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100" b="0" dirty="0">
                <a:solidFill>
                  <a:srgbClr val="262626"/>
                </a:solidFill>
                <a:latin typeface="Calibri"/>
              </a:rPr>
              <a:t>Spaces &amp; resampling:  methods assume every image is registered to the same template space (e.g. MNI). </a:t>
            </a:r>
            <a:endParaRPr lang="en-US" sz="1100" b="0" dirty="0">
              <a:solidFill>
                <a:srgbClr val="262626"/>
              </a:solidFill>
              <a:latin typeface="Calibri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100" b="0" dirty="0">
                <a:solidFill>
                  <a:srgbClr val="262626"/>
                </a:solidFill>
                <a:latin typeface="Calibri"/>
              </a:rPr>
              <a:t>Differing voxel grids are resampled automatically onto the data’s grid (nearest-neighbor for integer atlases)</a:t>
            </a:r>
            <a:endParaRPr lang="en-US" sz="1100" b="0" dirty="0">
              <a:solidFill>
                <a:srgbClr val="262626"/>
              </a:solidFill>
              <a:latin typeface="Calibri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100" b="0" dirty="0">
                <a:solidFill>
                  <a:srgbClr val="262626"/>
                </a:solidFill>
                <a:latin typeface="Calibri"/>
              </a:rPr>
              <a:t>call </a:t>
            </a:r>
            <a:r>
              <a:rPr sz="1100" b="0" dirty="0" err="1">
                <a:solidFill>
                  <a:srgbClr val="262626"/>
                </a:solidFill>
                <a:latin typeface="Calibri"/>
              </a:rPr>
              <a:t>resample_space</a:t>
            </a:r>
            <a:r>
              <a:rPr sz="1100" b="0" dirty="0">
                <a:solidFill>
                  <a:srgbClr val="262626"/>
                </a:solidFill>
                <a:latin typeface="Calibri"/>
              </a:rPr>
              <a:t>(a, b) to </a:t>
            </a:r>
            <a:r>
              <a:rPr sz="1100" b="0" dirty="0" err="1">
                <a:solidFill>
                  <a:srgbClr val="262626"/>
                </a:solidFill>
                <a:latin typeface="Calibri"/>
              </a:rPr>
              <a:t>reslice</a:t>
            </a:r>
            <a:r>
              <a:rPr sz="1100" b="0" dirty="0">
                <a:solidFill>
                  <a:srgbClr val="262626"/>
                </a:solidFill>
                <a:latin typeface="Calibri"/>
              </a:rPr>
              <a:t> manually. </a:t>
            </a:r>
            <a:endParaRPr lang="en-US" sz="1100" b="0" dirty="0">
              <a:solidFill>
                <a:srgbClr val="262626"/>
              </a:solidFill>
              <a:latin typeface="Calibri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100" b="0" dirty="0" err="1">
                <a:solidFill>
                  <a:srgbClr val="262626"/>
                </a:solidFill>
                <a:latin typeface="Calibri"/>
              </a:rPr>
              <a:t>region.extract_data</a:t>
            </a:r>
            <a:r>
              <a:rPr sz="1100" b="0" dirty="0">
                <a:solidFill>
                  <a:srgbClr val="262626"/>
                </a:solidFill>
                <a:latin typeface="Calibri"/>
              </a:rPr>
              <a:t> matches mm coordinates with no resampling.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6AEE351-AA3B-357D-AB36-17830FE83DFD}"/>
              </a:ext>
            </a:extLst>
          </p:cNvPr>
          <p:cNvSpPr/>
          <p:nvPr/>
        </p:nvSpPr>
        <p:spPr>
          <a:xfrm>
            <a:off x="320040" y="5527229"/>
            <a:ext cx="2331720" cy="420624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en-US" sz="950" b="0" dirty="0" err="1">
                <a:solidFill>
                  <a:srgbClr val="262626"/>
                </a:solidFill>
                <a:latin typeface="Calibri"/>
              </a:rPr>
              <a:t>load_image_set</a:t>
            </a:r>
            <a:endParaRPr lang="en-US" sz="950" dirty="0">
              <a:solidFill>
                <a:srgbClr val="262626"/>
              </a:solidFill>
              <a:latin typeface="Calibri"/>
            </a:endParaRPr>
          </a:p>
          <a:p>
            <a:pPr algn="ctr"/>
            <a:r>
              <a:rPr lang="en-US" sz="950" b="0" dirty="0">
                <a:solidFill>
                  <a:srgbClr val="262626"/>
                </a:solidFill>
                <a:latin typeface="Calibri"/>
              </a:rPr>
              <a:t>(for signatures, network maps, &amp; more)</a:t>
            </a:r>
            <a:endParaRPr sz="950" b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03CF25-3205-806E-0C4D-8112DE540B7C}"/>
              </a:ext>
            </a:extLst>
          </p:cNvPr>
          <p:cNvSpPr/>
          <p:nvPr/>
        </p:nvSpPr>
        <p:spPr>
          <a:xfrm>
            <a:off x="320040" y="6026959"/>
            <a:ext cx="2331720" cy="420624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en-US" sz="950" b="0" dirty="0" err="1">
                <a:solidFill>
                  <a:srgbClr val="262626"/>
                </a:solidFill>
                <a:latin typeface="Calibri"/>
              </a:rPr>
              <a:t>load_atlas</a:t>
            </a:r>
            <a:r>
              <a:rPr lang="en-US" sz="950" b="0" dirty="0">
                <a:solidFill>
                  <a:srgbClr val="262626"/>
                </a:solidFill>
                <a:latin typeface="Calibri"/>
              </a:rPr>
              <a:t> + </a:t>
            </a:r>
            <a:r>
              <a:rPr lang="en-US" sz="950" b="0" dirty="0" err="1">
                <a:solidFill>
                  <a:srgbClr val="262626"/>
                </a:solidFill>
                <a:latin typeface="Calibri"/>
              </a:rPr>
              <a:t>select_atlas_subset</a:t>
            </a:r>
            <a:endParaRPr lang="en-US" sz="950" b="0" dirty="0">
              <a:solidFill>
                <a:srgbClr val="262626"/>
              </a:solidFill>
              <a:latin typeface="Calibri"/>
            </a:endParaRPr>
          </a:p>
          <a:p>
            <a:pPr algn="ctr"/>
            <a:r>
              <a:rPr lang="en-US" sz="950" dirty="0">
                <a:solidFill>
                  <a:srgbClr val="262626"/>
                </a:solidFill>
                <a:latin typeface="Calibri"/>
              </a:rPr>
              <a:t>(for named atlas regions/parcels)</a:t>
            </a:r>
            <a:endParaRPr sz="950" b="0" dirty="0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297</Words>
  <Application>Microsoft Macintosh PowerPoint</Application>
  <PresentationFormat>Widescreen</PresentationFormat>
  <Paragraphs>40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Cambria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Tor D. Wager</cp:lastModifiedBy>
  <cp:revision>4</cp:revision>
  <dcterms:created xsi:type="dcterms:W3CDTF">2013-01-27T09:14:16Z</dcterms:created>
  <dcterms:modified xsi:type="dcterms:W3CDTF">2026-06-18T21:26:18Z</dcterms:modified>
  <cp:category/>
</cp:coreProperties>
</file>