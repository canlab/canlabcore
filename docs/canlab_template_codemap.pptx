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1096"/>
  </p:normalViewPr>
  <p:slideViewPr>
    <p:cSldViewPr snapToGrid="0" snapToObjects="1">
      <p:cViewPr varScale="1">
        <p:scale>
          <a:sx n="102" d="100"/>
          <a:sy n="102" d="100"/>
        </p:scale>
        <p:origin x="1496" y="176"/>
      </p:cViewPr>
      <p:guideLst/>
    </p:cSldViewPr>
  </p:slideViewPr>
  <p:notesTextViewPr>
    <p:cViewPr>
      <p:scale>
        <a:sx n="1" d="1"/>
        <a:sy n="1" d="1"/>
      </p:scale>
      <p:origin x="0" y="-3224"/>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0304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Read the file </a:t>
            </a:r>
            <a:r>
              <a:rPr lang="en-US" sz="1200" b="0" i="0" kern="1200" dirty="0" err="1">
                <a:solidFill>
                  <a:schemeClr val="tx1"/>
                </a:solidFill>
                <a:effectLst/>
                <a:latin typeface="+mn-lt"/>
                <a:ea typeface="+mn-ea"/>
                <a:cs typeface="+mn-cs"/>
              </a:rPr>
              <a:t>canlab_template_codemap.pptx</a:t>
            </a:r>
            <a:r>
              <a:rPr lang="en-US" sz="1200" b="0" i="0" kern="1200" dirty="0">
                <a:solidFill>
                  <a:schemeClr val="tx1"/>
                </a:solidFill>
                <a:effectLst/>
                <a:latin typeface="+mn-lt"/>
                <a:ea typeface="+mn-ea"/>
                <a:cs typeface="+mn-cs"/>
              </a:rPr>
              <a:t>.  This is a code map that specifies the flow of data through a set of functions. I will give you a list of functions below.</a:t>
            </a:r>
          </a:p>
          <a:p>
            <a:r>
              <a:rPr lang="en-US" sz="1200" b="0" i="0" kern="1200" dirty="0">
                <a:solidFill>
                  <a:schemeClr val="tx1"/>
                </a:solidFill>
                <a:effectLst/>
                <a:latin typeface="+mn-lt"/>
                <a:ea typeface="+mn-ea"/>
                <a:cs typeface="+mn-cs"/>
              </a:rPr>
              <a:t>For each function in the list below, create a native </a:t>
            </a:r>
            <a:r>
              <a:rPr lang="en-US" sz="1200" b="0" i="0" kern="1200" dirty="0" err="1">
                <a:solidFill>
                  <a:schemeClr val="tx1"/>
                </a:solidFill>
                <a:effectLst/>
                <a:latin typeface="+mn-lt"/>
                <a:ea typeface="+mn-ea"/>
                <a:cs typeface="+mn-cs"/>
              </a:rPr>
              <a:t>powerpoint</a:t>
            </a:r>
            <a:r>
              <a:rPr lang="en-US" sz="1200" b="0" i="0" kern="1200" dirty="0">
                <a:solidFill>
                  <a:schemeClr val="tx1"/>
                </a:solidFill>
                <a:effectLst/>
                <a:latin typeface="+mn-lt"/>
                <a:ea typeface="+mn-ea"/>
                <a:cs typeface="+mn-cs"/>
              </a:rPr>
              <a:t> file with editable </a:t>
            </a:r>
            <a:r>
              <a:rPr lang="en-US" sz="1200" b="0" i="0" kern="1200" dirty="0" err="1">
                <a:solidFill>
                  <a:schemeClr val="tx1"/>
                </a:solidFill>
                <a:effectLst/>
                <a:latin typeface="+mn-lt"/>
                <a:ea typeface="+mn-ea"/>
                <a:cs typeface="+mn-cs"/>
              </a:rPr>
              <a:t>powerpoint</a:t>
            </a:r>
            <a:r>
              <a:rPr lang="en-US" sz="1200" b="0" i="0" kern="1200" dirty="0">
                <a:solidFill>
                  <a:schemeClr val="tx1"/>
                </a:solidFill>
                <a:effectLst/>
                <a:latin typeface="+mn-lt"/>
                <a:ea typeface="+mn-ea"/>
                <a:cs typeface="+mn-cs"/>
              </a:rPr>
              <a:t>-native objects, including text boxes and arrows, that provide a graphical code map of the function and its subfunctions, inputs, outputs, and key variables. Use </a:t>
            </a:r>
            <a:r>
              <a:rPr lang="en-US" dirty="0" err="1"/>
              <a:t>pptxgenjs</a:t>
            </a:r>
            <a:r>
              <a:rPr lang="en-US" dirty="0"/>
              <a:t>, or a preferred skill if there is a better option available. </a:t>
            </a:r>
            <a:r>
              <a:rPr lang="en-US" sz="1200" b="0" i="0" kern="1200" dirty="0">
                <a:solidFill>
                  <a:schemeClr val="tx1"/>
                </a:solidFill>
                <a:effectLst/>
                <a:latin typeface="+mn-lt"/>
                <a:ea typeface="+mn-ea"/>
                <a:cs typeface="+mn-cs"/>
              </a:rPr>
              <a:t>Use the slide in </a:t>
            </a:r>
            <a:r>
              <a:rPr lang="en-US" sz="1200" b="0" i="0" kern="1200" dirty="0" err="1">
                <a:solidFill>
                  <a:schemeClr val="tx1"/>
                </a:solidFill>
                <a:effectLst/>
                <a:latin typeface="+mn-lt"/>
                <a:ea typeface="+mn-ea"/>
                <a:cs typeface="+mn-cs"/>
              </a:rPr>
              <a:t>template_codemap.pptx</a:t>
            </a:r>
            <a:r>
              <a:rPr lang="en-US" sz="1200" b="0" i="0" kern="1200" dirty="0">
                <a:solidFill>
                  <a:schemeClr val="tx1"/>
                </a:solidFill>
                <a:effectLst/>
                <a:latin typeface="+mn-lt"/>
                <a:ea typeface="+mn-ea"/>
                <a:cs typeface="+mn-cs"/>
              </a:rPr>
              <a:t> as a template, keeping the font, color scheme, and style consistent with the template.  Name the new pptx file with the object class name and method name followed by _</a:t>
            </a:r>
            <a:r>
              <a:rPr lang="en-US" sz="1200" b="0" i="0" kern="1200" dirty="0" err="1">
                <a:solidFill>
                  <a:schemeClr val="tx1"/>
                </a:solidFill>
                <a:effectLst/>
                <a:latin typeface="+mn-lt"/>
                <a:ea typeface="+mn-ea"/>
                <a:cs typeface="+mn-cs"/>
              </a:rPr>
              <a:t>codemap</a:t>
            </a:r>
            <a:r>
              <a:rPr lang="en-US" sz="1200" b="0" i="0" kern="1200" dirty="0">
                <a:solidFill>
                  <a:schemeClr val="tx1"/>
                </a:solidFill>
                <a:effectLst/>
                <a:latin typeface="+mn-lt"/>
                <a:ea typeface="+mn-ea"/>
                <a:cs typeface="+mn-cs"/>
              </a:rPr>
              <a:t>, i.e., “&lt;class&gt;_&lt;method&gt;_</a:t>
            </a:r>
            <a:r>
              <a:rPr lang="en-US" sz="1200" b="0" i="0" kern="1200" dirty="0" err="1">
                <a:solidFill>
                  <a:schemeClr val="tx1"/>
                </a:solidFill>
                <a:effectLst/>
                <a:latin typeface="+mn-lt"/>
                <a:ea typeface="+mn-ea"/>
                <a:cs typeface="+mn-cs"/>
              </a:rPr>
              <a:t>codemap.pptx</a:t>
            </a:r>
            <a:r>
              <a:rPr lang="en-US" sz="1200" b="0" i="0" kern="1200" dirty="0">
                <a:solidFill>
                  <a:schemeClr val="tx1"/>
                </a:solidFill>
                <a:effectLst/>
                <a:latin typeface="+mn-lt"/>
                <a:ea typeface="+mn-ea"/>
                <a:cs typeface="+mn-cs"/>
              </a:rPr>
              <a:t>”, for example ”</a:t>
            </a:r>
            <a:r>
              <a:rPr lang="en-US" sz="1200" b="0" i="0" kern="1200" dirty="0" err="1">
                <a:solidFill>
                  <a:schemeClr val="tx1"/>
                </a:solidFill>
                <a:effectLst/>
                <a:latin typeface="+mn-lt"/>
                <a:ea typeface="+mn-ea"/>
                <a:cs typeface="+mn-cs"/>
              </a:rPr>
              <a:t>fmri_data_regress_codemap.pptx</a:t>
            </a:r>
            <a:r>
              <a:rPr lang="en-US" sz="1200" b="0" i="0" kern="1200" dirty="0">
                <a:solidFill>
                  <a:schemeClr val="tx1"/>
                </a:solidFill>
                <a:effectLst/>
                <a:latin typeface="+mn-lt"/>
                <a:ea typeface="+mn-ea"/>
                <a:cs typeface="+mn-cs"/>
              </a:rPr>
              <a:t>”.  If a .pptx file of the name already exists, read it and consider whether it needs updates, and make any updates needed instead of recreating it from scratch. If you create or modify the file, save the pptx file in docs/</a:t>
            </a:r>
            <a:r>
              <a:rPr lang="en-US" sz="1200" b="0" i="0" kern="1200" dirty="0" err="1">
                <a:solidFill>
                  <a:schemeClr val="tx1"/>
                </a:solidFill>
                <a:effectLst/>
                <a:latin typeface="+mn-lt"/>
                <a:ea typeface="+mn-ea"/>
                <a:cs typeface="+mn-cs"/>
              </a:rPr>
              <a:t>code_maps_pptx</a:t>
            </a:r>
            <a:r>
              <a:rPr lang="en-US" sz="1200" b="0" i="0" kern="1200" dirty="0">
                <a:solidFill>
                  <a:schemeClr val="tx1"/>
                </a:solidFill>
                <a:effectLst/>
                <a:latin typeface="+mn-lt"/>
                <a:ea typeface="+mn-ea"/>
                <a:cs typeface="+mn-cs"/>
              </a:rPr>
              <a:t>/.  Then save a .</a:t>
            </a:r>
            <a:r>
              <a:rPr lang="en-US" sz="1200" b="0" i="0" kern="1200" dirty="0" err="1">
                <a:solidFill>
                  <a:schemeClr val="tx1"/>
                </a:solidFill>
                <a:effectLst/>
                <a:latin typeface="+mn-lt"/>
                <a:ea typeface="+mn-ea"/>
                <a:cs typeface="+mn-cs"/>
              </a:rPr>
              <a:t>png</a:t>
            </a:r>
            <a:r>
              <a:rPr lang="en-US" sz="1200" b="0" i="0" kern="1200" dirty="0">
                <a:solidFill>
                  <a:schemeClr val="tx1"/>
                </a:solidFill>
                <a:effectLst/>
                <a:latin typeface="+mn-lt"/>
                <a:ea typeface="+mn-ea"/>
                <a:cs typeface="+mn-cs"/>
              </a:rPr>
              <a:t> file of the new </a:t>
            </a:r>
            <a:r>
              <a:rPr lang="en-US" sz="1200" b="0" i="0" kern="1200" dirty="0" err="1">
                <a:solidFill>
                  <a:schemeClr val="tx1"/>
                </a:solidFill>
                <a:effectLst/>
                <a:latin typeface="+mn-lt"/>
                <a:ea typeface="+mn-ea"/>
                <a:cs typeface="+mn-cs"/>
              </a:rPr>
              <a:t>codemap</a:t>
            </a:r>
            <a:r>
              <a:rPr lang="en-US" sz="1200" b="0" i="0" kern="1200" dirty="0">
                <a:solidFill>
                  <a:schemeClr val="tx1"/>
                </a:solidFill>
                <a:effectLst/>
                <a:latin typeface="+mn-lt"/>
                <a:ea typeface="+mn-ea"/>
                <a:cs typeface="+mn-cs"/>
              </a:rPr>
              <a:t> with the same name but ending in .</a:t>
            </a:r>
            <a:r>
              <a:rPr lang="en-US" sz="1200" b="0" i="0" kern="1200" dirty="0" err="1">
                <a:solidFill>
                  <a:schemeClr val="tx1"/>
                </a:solidFill>
                <a:effectLst/>
                <a:latin typeface="+mn-lt"/>
                <a:ea typeface="+mn-ea"/>
                <a:cs typeface="+mn-cs"/>
              </a:rPr>
              <a:t>png</a:t>
            </a:r>
            <a:r>
              <a:rPr lang="en-US" sz="1200" b="0" i="0" kern="1200" dirty="0">
                <a:solidFill>
                  <a:schemeClr val="tx1"/>
                </a:solidFill>
                <a:effectLst/>
                <a:latin typeface="+mn-lt"/>
                <a:ea typeface="+mn-ea"/>
                <a:cs typeface="+mn-cs"/>
              </a:rPr>
              <a:t> in the folder docs/</a:t>
            </a:r>
            <a:r>
              <a:rPr lang="en-US" sz="1200" b="0" i="0" kern="1200" dirty="0" err="1">
                <a:solidFill>
                  <a:schemeClr val="tx1"/>
                </a:solidFill>
                <a:effectLst/>
                <a:latin typeface="+mn-lt"/>
                <a:ea typeface="+mn-ea"/>
                <a:cs typeface="+mn-cs"/>
              </a:rPr>
              <a:t>code_maps_png</a:t>
            </a:r>
            <a:r>
              <a:rPr lang="en-US" sz="1200" b="0" i="0" kern="1200" dirty="0">
                <a:solidFill>
                  <a:schemeClr val="tx1"/>
                </a:solidFill>
                <a:effectLst/>
                <a:latin typeface="+mn-lt"/>
                <a:ea typeface="+mn-ea"/>
                <a:cs typeface="+mn-cs"/>
              </a:rPr>
              <a:t>/.   Crop out extra white space from the .</a:t>
            </a:r>
            <a:r>
              <a:rPr lang="en-US" sz="1200" b="0" i="0" kern="1200" dirty="0" err="1">
                <a:solidFill>
                  <a:schemeClr val="tx1"/>
                </a:solidFill>
                <a:effectLst/>
                <a:latin typeface="+mn-lt"/>
                <a:ea typeface="+mn-ea"/>
                <a:cs typeface="+mn-cs"/>
              </a:rPr>
              <a:t>png</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The functions you should run this pipeline for are the following methods for the @</a:t>
            </a:r>
            <a:r>
              <a:rPr lang="en-US" sz="1200" b="0" i="0" kern="1200" dirty="0" err="1">
                <a:solidFill>
                  <a:schemeClr val="tx1"/>
                </a:solidFill>
                <a:effectLst/>
                <a:latin typeface="+mn-lt"/>
                <a:ea typeface="+mn-ea"/>
                <a:cs typeface="+mn-cs"/>
              </a:rPr>
              <a:t>fmri_data</a:t>
            </a:r>
            <a:r>
              <a:rPr lang="en-US" sz="1200" b="0" i="0" kern="1200" dirty="0">
                <a:solidFill>
                  <a:schemeClr val="tx1"/>
                </a:solidFill>
                <a:effectLst/>
                <a:latin typeface="+mn-lt"/>
                <a:ea typeface="+mn-ea"/>
                <a:cs typeface="+mn-cs"/>
              </a:rPr>
              <a:t> class: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annotate_binary_results_map</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apply_parcellation</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canlab_connectivity_preproc</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denoise_timeseries_pipeline</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descriptives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dual_regression</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evaluate_spatial_scale</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extract_gray_white_csf</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extract_measures_batch</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extract_roi_averages</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fitlme_voxelwise</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hansen_neurotransmitter_maps</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image_similarity_plot</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jackknife_similarity</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model_brain_pathway</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model_mpathi</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normalize_gm_by_wm_csf</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outliers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pca</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qc_metrics_second_level</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robfit_parcelwise</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regress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rsa_regression</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table_of_atlas_regions_covered</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ttest_table_and_lateralization_test</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wedge_plot_by</a:t>
            </a:r>
            <a:r>
              <a:rPr lang="en-US" sz="1200" b="0" i="0" kern="1200" err="1">
                <a:solidFill>
                  <a:schemeClr val="tx1"/>
                </a:solidFill>
                <a:effectLst/>
                <a:latin typeface="+mn-lt"/>
                <a:ea typeface="+mn-ea"/>
                <a:cs typeface="+mn-cs"/>
              </a:rPr>
              <a:t>_</a:t>
            </a:r>
            <a:r>
              <a:rPr lang="en-US" sz="1200" b="0" i="0" kern="1200">
                <a:solidFill>
                  <a:schemeClr val="tx1"/>
                </a:solidFill>
                <a:effectLst/>
                <a:latin typeface="+mn-lt"/>
                <a:ea typeface="+mn-ea"/>
                <a:cs typeface="+mn-cs"/>
              </a:rPr>
              <a:t>atlas</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0" y="137160"/>
            <a:ext cx="6858000" cy="411480"/>
          </a:xfrm>
          <a:prstGeom prst="rect">
            <a:avLst/>
          </a:prstGeom>
          <a:noFill/>
          <a:ln/>
        </p:spPr>
        <p:txBody>
          <a:bodyPr wrap="square" lIns="0" tIns="0" rIns="0" bIns="0" rtlCol="0" anchor="ctr"/>
          <a:lstStyle/>
          <a:p>
            <a:pPr marL="0" indent="0" algn="ctr">
              <a:buNone/>
            </a:pPr>
            <a:r>
              <a:rPr lang="en-US" sz="2200" b="1" dirty="0">
                <a:solidFill>
                  <a:srgbClr val="262626"/>
                </a:solidFill>
                <a:latin typeface="Calibri" pitchFamily="34" charset="0"/>
                <a:ea typeface="Calibri" pitchFamily="34" charset="-122"/>
                <a:cs typeface="Calibri" pitchFamily="34" charset="-120"/>
              </a:rPr>
              <a:t>CANlab code map: fmri_data.regress</a:t>
            </a:r>
            <a:endParaRPr lang="en-US" sz="2200" dirty="0"/>
          </a:p>
        </p:txBody>
      </p:sp>
      <p:sp>
        <p:nvSpPr>
          <p:cNvPr id="3" name="Text 1"/>
          <p:cNvSpPr/>
          <p:nvPr/>
        </p:nvSpPr>
        <p:spPr>
          <a:xfrm>
            <a:off x="3200400" y="566928"/>
            <a:ext cx="6400800" cy="502920"/>
          </a:xfrm>
          <a:prstGeom prst="rect">
            <a:avLst/>
          </a:prstGeom>
          <a:noFill/>
          <a:ln/>
        </p:spPr>
        <p:txBody>
          <a:bodyPr wrap="square" lIns="0" tIns="0" rIns="0" bIns="0" rtlCol="0" anchor="ctr"/>
          <a:lstStyle/>
          <a:p>
            <a:pPr marL="342900" indent="-342900">
              <a:buSzPct val="100000"/>
              <a:buChar char="•"/>
            </a:pPr>
            <a:r>
              <a:rPr lang="en-US" sz="1100" dirty="0">
                <a:solidFill>
                  <a:srgbClr val="262626"/>
                </a:solidFill>
                <a:latin typeface="Calibri" pitchFamily="34" charset="0"/>
                <a:ea typeface="Calibri" pitchFamily="34" charset="-122"/>
                <a:cs typeface="Calibri" pitchFamily="34" charset="-120"/>
              </a:rPr>
              <a:t>Voxelwise multiple regression on an fmri_data object using a design matrix attached to obj.X</a:t>
            </a:r>
            <a:endParaRPr lang="en-US" sz="1100" dirty="0"/>
          </a:p>
          <a:p>
            <a:pPr marL="342900" indent="-342900">
              <a:buSzPct val="100000"/>
              <a:buChar char="•"/>
            </a:pPr>
            <a:r>
              <a:rPr lang="en-US" sz="1100" dirty="0">
                <a:solidFill>
                  <a:srgbClr val="262626"/>
                </a:solidFill>
                <a:latin typeface="Calibri" pitchFamily="34" charset="0"/>
                <a:ea typeface="Calibri" pitchFamily="34" charset="-122"/>
                <a:cs typeface="Calibri" pitchFamily="34" charset="-120"/>
              </a:rPr>
              <a:t>Returns a statistic_image with betas, t-statistics, and p-values for each regressor</a:t>
            </a:r>
            <a:endParaRPr lang="en-US" sz="1100" dirty="0"/>
          </a:p>
        </p:txBody>
      </p:sp>
      <p:sp>
        <p:nvSpPr>
          <p:cNvPr id="4" name="Text 2"/>
          <p:cNvSpPr/>
          <p:nvPr/>
        </p:nvSpPr>
        <p:spPr>
          <a:xfrm>
            <a:off x="216074" y="533609"/>
            <a:ext cx="548640" cy="228600"/>
          </a:xfrm>
          <a:prstGeom prst="rect">
            <a:avLst/>
          </a:prstGeom>
          <a:noFill/>
          <a:ln/>
        </p:spPr>
        <p:txBody>
          <a:bodyPr wrap="square" lIns="0" tIns="0" rIns="0" bIns="0" rtlCol="0" anchor="ctr"/>
          <a:lstStyle/>
          <a:p>
            <a:pPr marL="0" indent="0">
              <a:buNone/>
            </a:pPr>
            <a:r>
              <a:rPr lang="en-US" sz="1200" b="1" dirty="0">
                <a:solidFill>
                  <a:srgbClr val="262626"/>
                </a:solidFill>
                <a:latin typeface="Calibri" pitchFamily="34" charset="0"/>
                <a:ea typeface="Calibri" pitchFamily="34" charset="-122"/>
                <a:cs typeface="Calibri" pitchFamily="34" charset="-120"/>
              </a:rPr>
              <a:t>Use:</a:t>
            </a:r>
            <a:endParaRPr lang="en-US" sz="1200" dirty="0"/>
          </a:p>
        </p:txBody>
      </p:sp>
      <p:sp>
        <p:nvSpPr>
          <p:cNvPr id="5" name="Text 3"/>
          <p:cNvSpPr/>
          <p:nvPr/>
        </p:nvSpPr>
        <p:spPr>
          <a:xfrm>
            <a:off x="228600" y="411480"/>
            <a:ext cx="2331720" cy="310896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Attach a design matrix to the fmri_data object as obj.X (one column per regressor, including intercept)</a:t>
            </a:r>
            <a:endParaRPr lang="en-US" sz="1050" dirty="0"/>
          </a:p>
          <a:p>
            <a:pPr marL="342900" indent="-3429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Optional name-value pairs control thresholding, robust regression, and bootstrap inference</a:t>
            </a:r>
            <a:endParaRPr lang="en-US" sz="1050" dirty="0"/>
          </a:p>
          <a:p>
            <a:pPr marL="342900" indent="-3429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Output statistic_image objects can be passed directly to threshold(), region(), and fmridisplay tools</a:t>
            </a:r>
            <a:endParaRPr lang="en-US" sz="1050" dirty="0"/>
          </a:p>
          <a:p>
            <a:pPr marL="342900" indent="-3429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Wrap calls in scripts that loop over subjects or contrasts for group-level work</a:t>
            </a:r>
            <a:endParaRPr lang="en-US" sz="1050" dirty="0"/>
          </a:p>
        </p:txBody>
      </p:sp>
      <p:sp>
        <p:nvSpPr>
          <p:cNvPr id="6" name="Text 4"/>
          <p:cNvSpPr/>
          <p:nvPr/>
        </p:nvSpPr>
        <p:spPr>
          <a:xfrm>
            <a:off x="236639" y="3360671"/>
            <a:ext cx="640080" cy="228600"/>
          </a:xfrm>
          <a:prstGeom prst="rect">
            <a:avLst/>
          </a:prstGeom>
          <a:noFill/>
          <a:ln/>
        </p:spPr>
        <p:txBody>
          <a:bodyPr wrap="square" lIns="0" tIns="0" rIns="0" bIns="0" rtlCol="0" anchor="ctr"/>
          <a:lstStyle/>
          <a:p>
            <a:pPr marL="0" indent="0">
              <a:buNone/>
            </a:pPr>
            <a:r>
              <a:rPr lang="en-US" sz="1200" b="1" dirty="0">
                <a:solidFill>
                  <a:srgbClr val="262626"/>
                </a:solidFill>
                <a:latin typeface="Calibri" pitchFamily="34" charset="0"/>
                <a:ea typeface="Calibri" pitchFamily="34" charset="-122"/>
                <a:cs typeface="Calibri" pitchFamily="34" charset="-120"/>
              </a:rPr>
              <a:t>Notes:</a:t>
            </a:r>
            <a:endParaRPr lang="en-US" sz="1200" dirty="0"/>
          </a:p>
        </p:txBody>
      </p:sp>
      <p:sp>
        <p:nvSpPr>
          <p:cNvPr id="7" name="Text 5"/>
          <p:cNvSpPr/>
          <p:nvPr/>
        </p:nvSpPr>
        <p:spPr>
          <a:xfrm>
            <a:off x="236639" y="3589271"/>
            <a:ext cx="1920240" cy="25603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regress() is a method on the fmri_data class — call it as DAT.regress() or regress(DAT)</a:t>
            </a:r>
            <a:endParaRPr lang="en-US" sz="1050" dirty="0"/>
          </a:p>
          <a:p>
            <a:pPr marL="342900" indent="-3429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Use 'robust' option to call robustfit instead of OLS for outlier-resistant inference</a:t>
            </a:r>
            <a:endParaRPr lang="en-US" sz="1050" dirty="0"/>
          </a:p>
          <a:p>
            <a:pPr marL="342900" indent="-342900">
              <a:spcAft>
                <a:spcPts val="400"/>
              </a:spcAft>
              <a:buSzPct val="100000"/>
              <a:buChar char="•"/>
            </a:pPr>
            <a:r>
              <a:rPr lang="en-US" sz="1050" dirty="0">
                <a:solidFill>
                  <a:srgbClr val="262626"/>
                </a:solidFill>
                <a:latin typeface="Calibri" pitchFamily="34" charset="0"/>
                <a:ea typeface="Calibri" pitchFamily="34" charset="-122"/>
                <a:cs typeface="Calibri" pitchFamily="34" charset="-120"/>
              </a:rPr>
              <a:t>For multilevel/group analysis, run regress per subject then pass beta maps to a second-level model</a:t>
            </a:r>
            <a:endParaRPr lang="en-US" sz="1050" dirty="0"/>
          </a:p>
        </p:txBody>
      </p:sp>
      <p:sp>
        <p:nvSpPr>
          <p:cNvPr id="8" name="Shape 6"/>
          <p:cNvSpPr/>
          <p:nvPr/>
        </p:nvSpPr>
        <p:spPr>
          <a:xfrm>
            <a:off x="2834640" y="1188720"/>
            <a:ext cx="1691640" cy="384048"/>
          </a:xfrm>
          <a:prstGeom prst="rect">
            <a:avLst/>
          </a:prstGeom>
          <a:solidFill>
            <a:srgbClr val="FCE5BF"/>
          </a:solidFill>
          <a:ln w="9525">
            <a:solidFill>
              <a:srgbClr val="E8B96B"/>
            </a:solidFill>
            <a:prstDash val="solid"/>
          </a:ln>
        </p:spPr>
        <p:txBody>
          <a:bodyPr/>
          <a:lstStyle/>
          <a:p>
            <a:endParaRPr lang="en-US"/>
          </a:p>
        </p:txBody>
      </p:sp>
      <p:sp>
        <p:nvSpPr>
          <p:cNvPr id="9" name="Text 7"/>
          <p:cNvSpPr/>
          <p:nvPr/>
        </p:nvSpPr>
        <p:spPr>
          <a:xfrm>
            <a:off x="2834640" y="1188720"/>
            <a:ext cx="1691640" cy="384048"/>
          </a:xfrm>
          <a:prstGeom prst="rect">
            <a:avLst/>
          </a:prstGeom>
          <a:noFill/>
          <a:ln/>
        </p:spPr>
        <p:txBody>
          <a:bodyPr wrap="square" lIns="0" tIns="0" rIns="0" bIns="0" rtlCol="0" anchor="ctr"/>
          <a:lstStyle/>
          <a:p>
            <a:pPr marL="0" indent="0" algn="ctr">
              <a:buNone/>
            </a:pPr>
            <a:r>
              <a:rPr lang="en-US" sz="1100" dirty="0">
                <a:solidFill>
                  <a:srgbClr val="262626"/>
                </a:solidFill>
                <a:latin typeface="Calibri" pitchFamily="34" charset="0"/>
                <a:ea typeface="Calibri" pitchFamily="34" charset="-122"/>
                <a:cs typeface="Calibri" pitchFamily="34" charset="-120"/>
              </a:rPr>
              <a:t>*.nii / *.nii.gz</a:t>
            </a:r>
            <a:endParaRPr lang="en-US" sz="1100" dirty="0"/>
          </a:p>
        </p:txBody>
      </p:sp>
      <p:sp>
        <p:nvSpPr>
          <p:cNvPr id="10" name="Shape 8"/>
          <p:cNvSpPr/>
          <p:nvPr/>
        </p:nvSpPr>
        <p:spPr>
          <a:xfrm>
            <a:off x="3543300" y="1627632"/>
            <a:ext cx="274320" cy="292608"/>
          </a:xfrm>
          <a:prstGeom prst="downArrow">
            <a:avLst/>
          </a:prstGeom>
          <a:solidFill>
            <a:srgbClr val="FFFFFF"/>
          </a:solidFill>
          <a:ln w="9525">
            <a:solidFill>
              <a:srgbClr val="000000"/>
            </a:solidFill>
            <a:prstDash val="solid"/>
          </a:ln>
        </p:spPr>
        <p:txBody>
          <a:bodyPr/>
          <a:lstStyle/>
          <a:p>
            <a:endParaRPr lang="en-US"/>
          </a:p>
        </p:txBody>
      </p:sp>
      <p:sp>
        <p:nvSpPr>
          <p:cNvPr id="11" name="Shape 9"/>
          <p:cNvSpPr/>
          <p:nvPr/>
        </p:nvSpPr>
        <p:spPr>
          <a:xfrm>
            <a:off x="2834640" y="1993392"/>
            <a:ext cx="1691640" cy="384048"/>
          </a:xfrm>
          <a:prstGeom prst="rect">
            <a:avLst/>
          </a:prstGeom>
          <a:solidFill>
            <a:srgbClr val="DAE3F3"/>
          </a:solidFill>
          <a:ln w="9525">
            <a:solidFill>
              <a:srgbClr val="8FAADC"/>
            </a:solidFill>
            <a:prstDash val="solid"/>
          </a:ln>
        </p:spPr>
        <p:txBody>
          <a:bodyPr/>
          <a:lstStyle/>
          <a:p>
            <a:endParaRPr lang="en-US"/>
          </a:p>
        </p:txBody>
      </p:sp>
      <p:sp>
        <p:nvSpPr>
          <p:cNvPr id="12" name="Text 10"/>
          <p:cNvSpPr/>
          <p:nvPr/>
        </p:nvSpPr>
        <p:spPr>
          <a:xfrm>
            <a:off x="2834640" y="1993392"/>
            <a:ext cx="1691640" cy="384048"/>
          </a:xfrm>
          <a:prstGeom prst="rect">
            <a:avLst/>
          </a:prstGeom>
          <a:noFill/>
          <a:ln/>
        </p:spPr>
        <p:txBody>
          <a:bodyPr wrap="square" lIns="0" tIns="0" rIns="0" bIns="0" rtlCol="0" anchor="ctr"/>
          <a:lstStyle/>
          <a:p>
            <a:pPr marL="0" indent="0" algn="ctr">
              <a:buNone/>
            </a:pPr>
            <a:r>
              <a:rPr lang="en-US" sz="1100" dirty="0">
                <a:solidFill>
                  <a:srgbClr val="262626"/>
                </a:solidFill>
                <a:latin typeface="Calibri" pitchFamily="34" charset="0"/>
                <a:ea typeface="Calibri" pitchFamily="34" charset="-122"/>
                <a:cs typeface="Calibri" pitchFamily="34" charset="-120"/>
              </a:rPr>
              <a:t>fmri_data( )</a:t>
            </a:r>
            <a:endParaRPr lang="en-US" sz="1100" dirty="0"/>
          </a:p>
        </p:txBody>
      </p:sp>
      <p:sp>
        <p:nvSpPr>
          <p:cNvPr id="13" name="Text 11"/>
          <p:cNvSpPr/>
          <p:nvPr/>
        </p:nvSpPr>
        <p:spPr>
          <a:xfrm>
            <a:off x="4690872" y="1920240"/>
            <a:ext cx="1463040" cy="201168"/>
          </a:xfrm>
          <a:prstGeom prst="rect">
            <a:avLst/>
          </a:prstGeom>
          <a:noFill/>
          <a:ln/>
        </p:spPr>
        <p:txBody>
          <a:bodyPr wrap="square" lIns="0" tIns="0" rIns="0" bIns="0" rtlCol="0" anchor="ctr"/>
          <a:lstStyle/>
          <a:p>
            <a:pPr marL="0" indent="0">
              <a:buNone/>
            </a:pPr>
            <a:r>
              <a:rPr lang="en-US" sz="1000" b="1" u="sng" dirty="0">
                <a:solidFill>
                  <a:srgbClr val="262626"/>
                </a:solidFill>
                <a:latin typeface="Calibri" pitchFamily="34" charset="0"/>
                <a:ea typeface="Calibri" pitchFamily="34" charset="-122"/>
                <a:cs typeface="Calibri" pitchFamily="34" charset="-120"/>
              </a:rPr>
              <a:t>Object types:</a:t>
            </a:r>
            <a:endParaRPr lang="en-US" sz="1000" dirty="0"/>
          </a:p>
        </p:txBody>
      </p:sp>
      <p:sp>
        <p:nvSpPr>
          <p:cNvPr id="14" name="Text 12"/>
          <p:cNvSpPr/>
          <p:nvPr/>
        </p:nvSpPr>
        <p:spPr>
          <a:xfrm>
            <a:off x="4690872" y="2103120"/>
            <a:ext cx="1554480" cy="420624"/>
          </a:xfrm>
          <a:prstGeom prst="rect">
            <a:avLst/>
          </a:prstGeom>
          <a:noFill/>
          <a:ln/>
        </p:spPr>
        <p:txBody>
          <a:bodyPr wrap="square" lIns="0" tIns="0" rIns="0" bIns="0" rtlCol="0" anchor="ctr"/>
          <a:lstStyle/>
          <a:p>
            <a:pPr marL="342900" indent="-342900">
              <a:buSzPct val="100000"/>
              <a:buChar char="•"/>
            </a:pPr>
            <a:r>
              <a:rPr lang="en-US" sz="1000" dirty="0">
                <a:solidFill>
                  <a:srgbClr val="262626"/>
                </a:solidFill>
                <a:latin typeface="Calibri" pitchFamily="34" charset="0"/>
                <a:ea typeface="Calibri" pitchFamily="34" charset="-122"/>
                <a:cs typeface="Calibri" pitchFamily="34" charset="-120"/>
              </a:rPr>
              <a:t>fmri_data</a:t>
            </a:r>
            <a:endParaRPr lang="en-US" sz="1000" dirty="0"/>
          </a:p>
          <a:p>
            <a:pPr marL="342900" indent="-342900">
              <a:buSzPct val="100000"/>
              <a:buChar char="•"/>
            </a:pPr>
            <a:r>
              <a:rPr lang="en-US" sz="1000" dirty="0">
                <a:solidFill>
                  <a:srgbClr val="262626"/>
                </a:solidFill>
                <a:latin typeface="Calibri" pitchFamily="34" charset="0"/>
                <a:ea typeface="Calibri" pitchFamily="34" charset="-122"/>
                <a:cs typeface="Calibri" pitchFamily="34" charset="-120"/>
              </a:rPr>
              <a:t>image_vector</a:t>
            </a:r>
            <a:endParaRPr lang="en-US" sz="1000" dirty="0"/>
          </a:p>
        </p:txBody>
      </p:sp>
      <p:sp>
        <p:nvSpPr>
          <p:cNvPr id="15" name="Shape 13"/>
          <p:cNvSpPr/>
          <p:nvPr/>
        </p:nvSpPr>
        <p:spPr>
          <a:xfrm>
            <a:off x="3543300" y="2432304"/>
            <a:ext cx="274320" cy="292608"/>
          </a:xfrm>
          <a:prstGeom prst="downArrow">
            <a:avLst/>
          </a:prstGeom>
          <a:solidFill>
            <a:srgbClr val="FFFFFF"/>
          </a:solidFill>
          <a:ln w="9525">
            <a:solidFill>
              <a:srgbClr val="000000"/>
            </a:solidFill>
            <a:prstDash val="solid"/>
          </a:ln>
        </p:spPr>
        <p:txBody>
          <a:bodyPr/>
          <a:lstStyle/>
          <a:p>
            <a:endParaRPr lang="en-US"/>
          </a:p>
        </p:txBody>
      </p:sp>
      <p:sp>
        <p:nvSpPr>
          <p:cNvPr id="16" name="Shape 14"/>
          <p:cNvSpPr/>
          <p:nvPr/>
        </p:nvSpPr>
        <p:spPr>
          <a:xfrm>
            <a:off x="2834640" y="2798064"/>
            <a:ext cx="1691640" cy="384048"/>
          </a:xfrm>
          <a:prstGeom prst="rect">
            <a:avLst/>
          </a:prstGeom>
          <a:solidFill>
            <a:srgbClr val="DAE3F3"/>
          </a:solidFill>
          <a:ln w="9525">
            <a:solidFill>
              <a:srgbClr val="8FAADC"/>
            </a:solidFill>
            <a:prstDash val="solid"/>
          </a:ln>
        </p:spPr>
        <p:txBody>
          <a:bodyPr/>
          <a:lstStyle/>
          <a:p>
            <a:endParaRPr lang="en-US"/>
          </a:p>
        </p:txBody>
      </p:sp>
      <p:sp>
        <p:nvSpPr>
          <p:cNvPr id="17" name="Text 15"/>
          <p:cNvSpPr/>
          <p:nvPr/>
        </p:nvSpPr>
        <p:spPr>
          <a:xfrm>
            <a:off x="2834640" y="2798064"/>
            <a:ext cx="1691640" cy="384048"/>
          </a:xfrm>
          <a:prstGeom prst="rect">
            <a:avLst/>
          </a:prstGeom>
          <a:noFill/>
          <a:ln/>
        </p:spPr>
        <p:txBody>
          <a:bodyPr wrap="square" lIns="0" tIns="0" rIns="0" bIns="0" rtlCol="0" anchor="ctr"/>
          <a:lstStyle/>
          <a:p>
            <a:pPr marL="0" indent="0" algn="ctr">
              <a:buNone/>
            </a:pPr>
            <a:r>
              <a:rPr lang="en-US" sz="1100" dirty="0">
                <a:solidFill>
                  <a:srgbClr val="262626"/>
                </a:solidFill>
                <a:latin typeface="Calibri" pitchFamily="34" charset="0"/>
                <a:ea typeface="Calibri" pitchFamily="34" charset="-122"/>
                <a:cs typeface="Calibri" pitchFamily="34" charset="-120"/>
              </a:rPr>
              <a:t>apply_mask</a:t>
            </a:r>
            <a:endParaRPr lang="en-US" sz="1100" dirty="0"/>
          </a:p>
        </p:txBody>
      </p:sp>
      <p:sp>
        <p:nvSpPr>
          <p:cNvPr id="18" name="Shape 16"/>
          <p:cNvSpPr/>
          <p:nvPr/>
        </p:nvSpPr>
        <p:spPr>
          <a:xfrm>
            <a:off x="3543300" y="3236976"/>
            <a:ext cx="274320" cy="292608"/>
          </a:xfrm>
          <a:prstGeom prst="downArrow">
            <a:avLst/>
          </a:prstGeom>
          <a:solidFill>
            <a:srgbClr val="FFFFFF"/>
          </a:solidFill>
          <a:ln w="9525">
            <a:solidFill>
              <a:srgbClr val="000000"/>
            </a:solidFill>
            <a:prstDash val="solid"/>
          </a:ln>
        </p:spPr>
        <p:txBody>
          <a:bodyPr/>
          <a:lstStyle/>
          <a:p>
            <a:endParaRPr lang="en-US"/>
          </a:p>
        </p:txBody>
      </p:sp>
      <p:sp>
        <p:nvSpPr>
          <p:cNvPr id="19" name="Shape 17"/>
          <p:cNvSpPr/>
          <p:nvPr/>
        </p:nvSpPr>
        <p:spPr>
          <a:xfrm>
            <a:off x="2834640" y="3602736"/>
            <a:ext cx="1691640" cy="384048"/>
          </a:xfrm>
          <a:prstGeom prst="rect">
            <a:avLst/>
          </a:prstGeom>
          <a:solidFill>
            <a:srgbClr val="DAE3F3"/>
          </a:solidFill>
          <a:ln w="9525">
            <a:solidFill>
              <a:srgbClr val="8FAADC"/>
            </a:solidFill>
            <a:prstDash val="solid"/>
          </a:ln>
        </p:spPr>
        <p:txBody>
          <a:bodyPr/>
          <a:lstStyle/>
          <a:p>
            <a:endParaRPr lang="en-US"/>
          </a:p>
        </p:txBody>
      </p:sp>
      <p:sp>
        <p:nvSpPr>
          <p:cNvPr id="20" name="Text 18"/>
          <p:cNvSpPr/>
          <p:nvPr/>
        </p:nvSpPr>
        <p:spPr>
          <a:xfrm>
            <a:off x="2834640" y="3602736"/>
            <a:ext cx="1691640" cy="384048"/>
          </a:xfrm>
          <a:prstGeom prst="rect">
            <a:avLst/>
          </a:prstGeom>
          <a:noFill/>
          <a:ln/>
        </p:spPr>
        <p:txBody>
          <a:bodyPr wrap="square" lIns="0" tIns="0" rIns="0" bIns="0" rtlCol="0" anchor="ctr"/>
          <a:lstStyle/>
          <a:p>
            <a:pPr marL="0" indent="0" algn="ctr">
              <a:buNone/>
            </a:pPr>
            <a:r>
              <a:rPr lang="en-US" sz="1100" dirty="0">
                <a:solidFill>
                  <a:srgbClr val="262626"/>
                </a:solidFill>
                <a:latin typeface="Calibri" pitchFamily="34" charset="0"/>
                <a:ea typeface="Calibri" pitchFamily="34" charset="-122"/>
                <a:cs typeface="Calibri" pitchFamily="34" charset="-120"/>
              </a:rPr>
              <a:t>remove_empty</a:t>
            </a:r>
            <a:endParaRPr lang="en-US" sz="1100" dirty="0"/>
          </a:p>
        </p:txBody>
      </p:sp>
      <p:sp>
        <p:nvSpPr>
          <p:cNvPr id="21" name="Shape 19"/>
          <p:cNvSpPr/>
          <p:nvPr/>
        </p:nvSpPr>
        <p:spPr>
          <a:xfrm>
            <a:off x="7132320" y="1188720"/>
            <a:ext cx="1691640" cy="384048"/>
          </a:xfrm>
          <a:prstGeom prst="rect">
            <a:avLst/>
          </a:prstGeom>
          <a:solidFill>
            <a:srgbClr val="FCE5BF"/>
          </a:solidFill>
          <a:ln w="9525">
            <a:solidFill>
              <a:srgbClr val="E8B96B"/>
            </a:solidFill>
            <a:prstDash val="solid"/>
          </a:ln>
        </p:spPr>
        <p:txBody>
          <a:bodyPr/>
          <a:lstStyle/>
          <a:p>
            <a:endParaRPr lang="en-US"/>
          </a:p>
        </p:txBody>
      </p:sp>
      <p:sp>
        <p:nvSpPr>
          <p:cNvPr id="22" name="Text 20"/>
          <p:cNvSpPr/>
          <p:nvPr/>
        </p:nvSpPr>
        <p:spPr>
          <a:xfrm>
            <a:off x="7132320" y="1188720"/>
            <a:ext cx="1691640" cy="384048"/>
          </a:xfrm>
          <a:prstGeom prst="rect">
            <a:avLst/>
          </a:prstGeom>
          <a:noFill/>
          <a:ln/>
        </p:spPr>
        <p:txBody>
          <a:bodyPr wrap="square" lIns="0" tIns="0" rIns="0" bIns="0" rtlCol="0" anchor="ctr"/>
          <a:lstStyle/>
          <a:p>
            <a:pPr marL="0" indent="0" algn="ctr">
              <a:buNone/>
            </a:pPr>
            <a:r>
              <a:rPr lang="en-US" sz="1000" dirty="0">
                <a:solidFill>
                  <a:srgbClr val="262626"/>
                </a:solidFill>
                <a:latin typeface="Calibri" pitchFamily="34" charset="0"/>
                <a:ea typeface="Calibri" pitchFamily="34" charset="-122"/>
                <a:cs typeface="Calibri" pitchFamily="34" charset="-120"/>
              </a:rPr>
              <a:t>design matrix</a:t>
            </a:r>
            <a:endParaRPr lang="en-US" sz="1000" dirty="0"/>
          </a:p>
          <a:p>
            <a:pPr marL="0" indent="0" algn="ctr">
              <a:buNone/>
            </a:pPr>
            <a:r>
              <a:rPr lang="en-US" sz="1000" dirty="0">
                <a:solidFill>
                  <a:srgbClr val="262626"/>
                </a:solidFill>
                <a:latin typeface="Calibri" pitchFamily="34" charset="0"/>
                <a:ea typeface="Calibri" pitchFamily="34" charset="-122"/>
                <a:cs typeface="Calibri" pitchFamily="34" charset="-120"/>
              </a:rPr>
              <a:t>(behavioral / task)</a:t>
            </a:r>
            <a:endParaRPr lang="en-US" sz="1000" dirty="0"/>
          </a:p>
        </p:txBody>
      </p:sp>
      <p:sp>
        <p:nvSpPr>
          <p:cNvPr id="23" name="Shape 21"/>
          <p:cNvSpPr/>
          <p:nvPr/>
        </p:nvSpPr>
        <p:spPr>
          <a:xfrm>
            <a:off x="7840980" y="1627632"/>
            <a:ext cx="274320" cy="292608"/>
          </a:xfrm>
          <a:prstGeom prst="downArrow">
            <a:avLst/>
          </a:prstGeom>
          <a:solidFill>
            <a:srgbClr val="FFFFFF"/>
          </a:solidFill>
          <a:ln w="9525">
            <a:solidFill>
              <a:srgbClr val="000000"/>
            </a:solidFill>
            <a:prstDash val="solid"/>
          </a:ln>
        </p:spPr>
        <p:txBody>
          <a:bodyPr/>
          <a:lstStyle/>
          <a:p>
            <a:endParaRPr lang="en-US"/>
          </a:p>
        </p:txBody>
      </p:sp>
      <p:sp>
        <p:nvSpPr>
          <p:cNvPr id="24" name="Shape 22"/>
          <p:cNvSpPr/>
          <p:nvPr/>
        </p:nvSpPr>
        <p:spPr>
          <a:xfrm>
            <a:off x="7132320" y="1993392"/>
            <a:ext cx="1691640" cy="384048"/>
          </a:xfrm>
          <a:prstGeom prst="rect">
            <a:avLst/>
          </a:prstGeom>
          <a:solidFill>
            <a:srgbClr val="E2EFD9"/>
          </a:solidFill>
          <a:ln w="9525">
            <a:solidFill>
              <a:srgbClr val="A9D08E"/>
            </a:solidFill>
            <a:prstDash val="solid"/>
          </a:ln>
        </p:spPr>
        <p:txBody>
          <a:bodyPr/>
          <a:lstStyle/>
          <a:p>
            <a:endParaRPr lang="en-US"/>
          </a:p>
        </p:txBody>
      </p:sp>
      <p:sp>
        <p:nvSpPr>
          <p:cNvPr id="25" name="Text 23"/>
          <p:cNvSpPr/>
          <p:nvPr/>
        </p:nvSpPr>
        <p:spPr>
          <a:xfrm>
            <a:off x="7132320" y="1993392"/>
            <a:ext cx="1691640" cy="384048"/>
          </a:xfrm>
          <a:prstGeom prst="rect">
            <a:avLst/>
          </a:prstGeom>
          <a:noFill/>
          <a:ln/>
        </p:spPr>
        <p:txBody>
          <a:bodyPr wrap="square" lIns="0" tIns="0" rIns="0" bIns="0" rtlCol="0" anchor="ctr"/>
          <a:lstStyle/>
          <a:p>
            <a:pPr marL="0" indent="0" algn="ctr">
              <a:buNone/>
            </a:pPr>
            <a:r>
              <a:rPr lang="en-US" sz="1100" i="1" dirty="0">
                <a:solidFill>
                  <a:srgbClr val="262626"/>
                </a:solidFill>
                <a:latin typeface="Cambria" pitchFamily="34" charset="0"/>
                <a:ea typeface="Cambria" pitchFamily="34" charset="-122"/>
                <a:cs typeface="Cambria" pitchFamily="34" charset="-120"/>
              </a:rPr>
              <a:t>obj.X</a:t>
            </a:r>
            <a:endParaRPr lang="en-US" sz="1100" dirty="0"/>
          </a:p>
        </p:txBody>
      </p:sp>
      <p:sp>
        <p:nvSpPr>
          <p:cNvPr id="27" name="Text 25"/>
          <p:cNvSpPr/>
          <p:nvPr/>
        </p:nvSpPr>
        <p:spPr>
          <a:xfrm>
            <a:off x="8915400" y="1188720"/>
            <a:ext cx="1783080" cy="457200"/>
          </a:xfrm>
          <a:prstGeom prst="rect">
            <a:avLst/>
          </a:prstGeom>
          <a:noFill/>
          <a:ln/>
        </p:spPr>
        <p:txBody>
          <a:bodyPr wrap="square" lIns="0" tIns="0" rIns="0" bIns="0" rtlCol="0" anchor="ctr"/>
          <a:lstStyle/>
          <a:p>
            <a:pPr marL="0" indent="0">
              <a:buNone/>
            </a:pPr>
            <a:r>
              <a:rPr lang="en-US" sz="950" i="1" dirty="0">
                <a:solidFill>
                  <a:srgbClr val="595959"/>
                </a:solidFill>
                <a:latin typeface="Cambria" pitchFamily="34" charset="0"/>
                <a:ea typeface="Cambria" pitchFamily="34" charset="-122"/>
                <a:cs typeface="Cambria" pitchFamily="34" charset="-120"/>
              </a:rPr>
              <a:t>attach design</a:t>
            </a:r>
            <a:endParaRPr lang="en-US" sz="950" dirty="0"/>
          </a:p>
          <a:p>
            <a:pPr marL="0" indent="0">
              <a:buNone/>
            </a:pPr>
            <a:r>
              <a:rPr lang="en-US" sz="950" i="1" dirty="0">
                <a:solidFill>
                  <a:srgbClr val="595959"/>
                </a:solidFill>
                <a:latin typeface="Cambria" pitchFamily="34" charset="0"/>
                <a:ea typeface="Cambria" pitchFamily="34" charset="-122"/>
                <a:cs typeface="Cambria" pitchFamily="34" charset="-120"/>
              </a:rPr>
              <a:t>matrix as obj.X</a:t>
            </a:r>
            <a:endParaRPr lang="en-US" sz="950" dirty="0"/>
          </a:p>
        </p:txBody>
      </p:sp>
      <p:sp>
        <p:nvSpPr>
          <p:cNvPr id="28" name="Shape 26"/>
          <p:cNvSpPr/>
          <p:nvPr/>
        </p:nvSpPr>
        <p:spPr>
          <a:xfrm>
            <a:off x="4983480" y="2798064"/>
            <a:ext cx="1691640" cy="384048"/>
          </a:xfrm>
          <a:prstGeom prst="rect">
            <a:avLst/>
          </a:prstGeom>
          <a:solidFill>
            <a:srgbClr val="DAE3F3"/>
          </a:solidFill>
          <a:ln w="9525">
            <a:solidFill>
              <a:srgbClr val="8FAADC"/>
            </a:solidFill>
            <a:prstDash val="solid"/>
          </a:ln>
        </p:spPr>
        <p:txBody>
          <a:bodyPr/>
          <a:lstStyle/>
          <a:p>
            <a:endParaRPr lang="en-US"/>
          </a:p>
        </p:txBody>
      </p:sp>
      <p:sp>
        <p:nvSpPr>
          <p:cNvPr id="29" name="Text 27"/>
          <p:cNvSpPr/>
          <p:nvPr/>
        </p:nvSpPr>
        <p:spPr>
          <a:xfrm>
            <a:off x="4983480" y="2798064"/>
            <a:ext cx="1691640" cy="384048"/>
          </a:xfrm>
          <a:prstGeom prst="rect">
            <a:avLst/>
          </a:prstGeom>
          <a:noFill/>
          <a:ln/>
        </p:spPr>
        <p:txBody>
          <a:bodyPr wrap="square" lIns="0" tIns="0" rIns="0" bIns="0" rtlCol="0" anchor="ctr"/>
          <a:lstStyle/>
          <a:p>
            <a:pPr marL="0" indent="0" algn="ctr">
              <a:buNone/>
            </a:pPr>
            <a:r>
              <a:rPr lang="en-US" sz="1100" b="1" dirty="0">
                <a:solidFill>
                  <a:srgbClr val="262626"/>
                </a:solidFill>
                <a:latin typeface="Calibri" pitchFamily="34" charset="0"/>
                <a:ea typeface="Calibri" pitchFamily="34" charset="-122"/>
                <a:cs typeface="Calibri" pitchFamily="34" charset="-120"/>
              </a:rPr>
              <a:t>regress( )</a:t>
            </a:r>
            <a:endParaRPr lang="en-US" sz="1100" dirty="0"/>
          </a:p>
        </p:txBody>
      </p:sp>
      <p:sp>
        <p:nvSpPr>
          <p:cNvPr id="30" name="Shape 28"/>
          <p:cNvSpPr/>
          <p:nvPr/>
        </p:nvSpPr>
        <p:spPr>
          <a:xfrm flipV="1">
            <a:off x="4526280" y="2990088"/>
            <a:ext cx="457200" cy="804672"/>
          </a:xfrm>
          <a:prstGeom prst="line">
            <a:avLst/>
          </a:prstGeom>
          <a:noFill/>
          <a:ln w="15875">
            <a:solidFill>
              <a:srgbClr val="000000"/>
            </a:solidFill>
            <a:prstDash val="solid"/>
            <a:tailEnd type="triangle"/>
          </a:ln>
        </p:spPr>
        <p:txBody>
          <a:bodyPr/>
          <a:lstStyle/>
          <a:p>
            <a:endParaRPr lang="en-US"/>
          </a:p>
        </p:txBody>
      </p:sp>
      <p:sp>
        <p:nvSpPr>
          <p:cNvPr id="31" name="Shape 29"/>
          <p:cNvSpPr/>
          <p:nvPr/>
        </p:nvSpPr>
        <p:spPr>
          <a:xfrm flipH="1">
            <a:off x="6675120" y="2377440"/>
            <a:ext cx="457200" cy="420624"/>
          </a:xfrm>
          <a:prstGeom prst="line">
            <a:avLst/>
          </a:prstGeom>
          <a:noFill/>
          <a:ln w="15875">
            <a:solidFill>
              <a:srgbClr val="000000"/>
            </a:solidFill>
            <a:prstDash val="solid"/>
            <a:tailEnd type="triangle"/>
          </a:ln>
        </p:spPr>
        <p:txBody>
          <a:bodyPr/>
          <a:lstStyle/>
          <a:p>
            <a:endParaRPr lang="en-US"/>
          </a:p>
        </p:txBody>
      </p:sp>
      <p:sp>
        <p:nvSpPr>
          <p:cNvPr id="32" name="Shape 30"/>
          <p:cNvSpPr/>
          <p:nvPr/>
        </p:nvSpPr>
        <p:spPr>
          <a:xfrm>
            <a:off x="5692140" y="3236976"/>
            <a:ext cx="274320" cy="292608"/>
          </a:xfrm>
          <a:prstGeom prst="downArrow">
            <a:avLst/>
          </a:prstGeom>
          <a:solidFill>
            <a:srgbClr val="FFFFFF"/>
          </a:solidFill>
          <a:ln w="9525">
            <a:solidFill>
              <a:srgbClr val="000000"/>
            </a:solidFill>
            <a:prstDash val="solid"/>
          </a:ln>
        </p:spPr>
        <p:txBody>
          <a:bodyPr/>
          <a:lstStyle/>
          <a:p>
            <a:endParaRPr lang="en-US"/>
          </a:p>
        </p:txBody>
      </p:sp>
      <p:sp>
        <p:nvSpPr>
          <p:cNvPr id="33" name="Shape 31"/>
          <p:cNvSpPr/>
          <p:nvPr/>
        </p:nvSpPr>
        <p:spPr>
          <a:xfrm>
            <a:off x="4983480" y="3602736"/>
            <a:ext cx="1691640" cy="384048"/>
          </a:xfrm>
          <a:prstGeom prst="rect">
            <a:avLst/>
          </a:prstGeom>
          <a:solidFill>
            <a:srgbClr val="DAE3F3"/>
          </a:solidFill>
          <a:ln w="9525">
            <a:solidFill>
              <a:srgbClr val="8FAADC"/>
            </a:solidFill>
            <a:prstDash val="solid"/>
          </a:ln>
        </p:spPr>
        <p:txBody>
          <a:bodyPr/>
          <a:lstStyle/>
          <a:p>
            <a:endParaRPr lang="en-US"/>
          </a:p>
        </p:txBody>
      </p:sp>
      <p:sp>
        <p:nvSpPr>
          <p:cNvPr id="34" name="Text 32"/>
          <p:cNvSpPr/>
          <p:nvPr/>
        </p:nvSpPr>
        <p:spPr>
          <a:xfrm>
            <a:off x="4983480" y="3602736"/>
            <a:ext cx="1691640" cy="384048"/>
          </a:xfrm>
          <a:prstGeom prst="rect">
            <a:avLst/>
          </a:prstGeom>
          <a:noFill/>
          <a:ln/>
        </p:spPr>
        <p:txBody>
          <a:bodyPr wrap="square" lIns="0" tIns="0" rIns="0" bIns="0" rtlCol="0" anchor="ctr"/>
          <a:lstStyle/>
          <a:p>
            <a:pPr marL="0" indent="0" algn="ctr">
              <a:buNone/>
            </a:pPr>
            <a:r>
              <a:rPr lang="en-US" sz="1100" dirty="0">
                <a:solidFill>
                  <a:srgbClr val="262626"/>
                </a:solidFill>
                <a:latin typeface="Calibri" pitchFamily="34" charset="0"/>
                <a:ea typeface="Calibri" pitchFamily="34" charset="-122"/>
                <a:cs typeface="Calibri" pitchFamily="34" charset="-120"/>
              </a:rPr>
              <a:t>statistic_image</a:t>
            </a:r>
            <a:endParaRPr lang="en-US" sz="1100" dirty="0"/>
          </a:p>
        </p:txBody>
      </p:sp>
      <p:sp>
        <p:nvSpPr>
          <p:cNvPr id="35" name="Shape 33"/>
          <p:cNvSpPr/>
          <p:nvPr/>
        </p:nvSpPr>
        <p:spPr>
          <a:xfrm>
            <a:off x="5692140" y="4041648"/>
            <a:ext cx="274320" cy="292608"/>
          </a:xfrm>
          <a:prstGeom prst="downArrow">
            <a:avLst/>
          </a:prstGeom>
          <a:solidFill>
            <a:srgbClr val="FFFFFF"/>
          </a:solidFill>
          <a:ln w="9525">
            <a:solidFill>
              <a:srgbClr val="000000"/>
            </a:solidFill>
            <a:prstDash val="solid"/>
          </a:ln>
        </p:spPr>
        <p:txBody>
          <a:bodyPr/>
          <a:lstStyle/>
          <a:p>
            <a:endParaRPr lang="en-US"/>
          </a:p>
        </p:txBody>
      </p:sp>
      <p:sp>
        <p:nvSpPr>
          <p:cNvPr id="36" name="Shape 34"/>
          <p:cNvSpPr/>
          <p:nvPr/>
        </p:nvSpPr>
        <p:spPr>
          <a:xfrm>
            <a:off x="4983480" y="4407408"/>
            <a:ext cx="1691640" cy="384048"/>
          </a:xfrm>
          <a:prstGeom prst="rect">
            <a:avLst/>
          </a:prstGeom>
          <a:solidFill>
            <a:srgbClr val="DAE3F3"/>
          </a:solidFill>
          <a:ln w="9525">
            <a:solidFill>
              <a:srgbClr val="8FAADC"/>
            </a:solidFill>
            <a:prstDash val="solid"/>
          </a:ln>
        </p:spPr>
        <p:txBody>
          <a:bodyPr/>
          <a:lstStyle/>
          <a:p>
            <a:endParaRPr lang="en-US"/>
          </a:p>
        </p:txBody>
      </p:sp>
      <p:sp>
        <p:nvSpPr>
          <p:cNvPr id="37" name="Text 35"/>
          <p:cNvSpPr/>
          <p:nvPr/>
        </p:nvSpPr>
        <p:spPr>
          <a:xfrm>
            <a:off x="4983480" y="4407408"/>
            <a:ext cx="1691640" cy="384048"/>
          </a:xfrm>
          <a:prstGeom prst="rect">
            <a:avLst/>
          </a:prstGeom>
          <a:noFill/>
          <a:ln/>
        </p:spPr>
        <p:txBody>
          <a:bodyPr wrap="square" lIns="0" tIns="0" rIns="0" bIns="0" rtlCol="0" anchor="ctr"/>
          <a:lstStyle/>
          <a:p>
            <a:pPr marL="0" indent="0" algn="ctr">
              <a:buNone/>
            </a:pPr>
            <a:r>
              <a:rPr lang="en-US" sz="1100" dirty="0">
                <a:solidFill>
                  <a:srgbClr val="262626"/>
                </a:solidFill>
                <a:latin typeface="Calibri" pitchFamily="34" charset="0"/>
                <a:ea typeface="Calibri" pitchFamily="34" charset="-122"/>
                <a:cs typeface="Calibri" pitchFamily="34" charset="-120"/>
              </a:rPr>
              <a:t>threshold( )</a:t>
            </a:r>
            <a:endParaRPr lang="en-US" sz="1100" dirty="0"/>
          </a:p>
        </p:txBody>
      </p:sp>
      <p:sp>
        <p:nvSpPr>
          <p:cNvPr id="38" name="Shape 36"/>
          <p:cNvSpPr/>
          <p:nvPr/>
        </p:nvSpPr>
        <p:spPr>
          <a:xfrm>
            <a:off x="5692140" y="4846320"/>
            <a:ext cx="274320" cy="292608"/>
          </a:xfrm>
          <a:prstGeom prst="downArrow">
            <a:avLst/>
          </a:prstGeom>
          <a:solidFill>
            <a:srgbClr val="FFFFFF"/>
          </a:solidFill>
          <a:ln w="9525">
            <a:solidFill>
              <a:srgbClr val="000000"/>
            </a:solidFill>
            <a:prstDash val="solid"/>
          </a:ln>
        </p:spPr>
        <p:txBody>
          <a:bodyPr/>
          <a:lstStyle/>
          <a:p>
            <a:endParaRPr lang="en-US"/>
          </a:p>
        </p:txBody>
      </p:sp>
      <p:sp>
        <p:nvSpPr>
          <p:cNvPr id="39" name="Shape 37"/>
          <p:cNvSpPr/>
          <p:nvPr/>
        </p:nvSpPr>
        <p:spPr>
          <a:xfrm>
            <a:off x="4983480" y="5212080"/>
            <a:ext cx="1691640" cy="384048"/>
          </a:xfrm>
          <a:prstGeom prst="rect">
            <a:avLst/>
          </a:prstGeom>
          <a:solidFill>
            <a:srgbClr val="DAE3F3"/>
          </a:solidFill>
          <a:ln w="9525">
            <a:solidFill>
              <a:srgbClr val="8FAADC"/>
            </a:solidFill>
            <a:prstDash val="solid"/>
          </a:ln>
        </p:spPr>
        <p:txBody>
          <a:bodyPr/>
          <a:lstStyle/>
          <a:p>
            <a:endParaRPr lang="en-US"/>
          </a:p>
        </p:txBody>
      </p:sp>
      <p:sp>
        <p:nvSpPr>
          <p:cNvPr id="40" name="Text 38"/>
          <p:cNvSpPr/>
          <p:nvPr/>
        </p:nvSpPr>
        <p:spPr>
          <a:xfrm>
            <a:off x="4983480" y="5212080"/>
            <a:ext cx="1691640" cy="384048"/>
          </a:xfrm>
          <a:prstGeom prst="rect">
            <a:avLst/>
          </a:prstGeom>
          <a:noFill/>
          <a:ln/>
        </p:spPr>
        <p:txBody>
          <a:bodyPr wrap="square" lIns="0" tIns="0" rIns="0" bIns="0" rtlCol="0" anchor="ctr"/>
          <a:lstStyle/>
          <a:p>
            <a:pPr marL="0" indent="0" algn="ctr">
              <a:buNone/>
            </a:pPr>
            <a:r>
              <a:rPr lang="en-US" sz="1100" dirty="0">
                <a:solidFill>
                  <a:srgbClr val="262626"/>
                </a:solidFill>
                <a:latin typeface="Calibri" pitchFamily="34" charset="0"/>
                <a:ea typeface="Calibri" pitchFamily="34" charset="-122"/>
                <a:cs typeface="Calibri" pitchFamily="34" charset="-120"/>
              </a:rPr>
              <a:t>region( )</a:t>
            </a:r>
            <a:endParaRPr lang="en-US" sz="1100" dirty="0"/>
          </a:p>
        </p:txBody>
      </p:sp>
      <p:sp>
        <p:nvSpPr>
          <p:cNvPr id="41" name="Text 39"/>
          <p:cNvSpPr/>
          <p:nvPr/>
        </p:nvSpPr>
        <p:spPr>
          <a:xfrm>
            <a:off x="6766560" y="5138928"/>
            <a:ext cx="1463040" cy="201168"/>
          </a:xfrm>
          <a:prstGeom prst="rect">
            <a:avLst/>
          </a:prstGeom>
          <a:noFill/>
          <a:ln/>
        </p:spPr>
        <p:txBody>
          <a:bodyPr wrap="square" lIns="0" tIns="0" rIns="0" bIns="0" rtlCol="0" anchor="ctr"/>
          <a:lstStyle/>
          <a:p>
            <a:pPr marL="0" indent="0">
              <a:buNone/>
            </a:pPr>
            <a:r>
              <a:rPr lang="en-US" sz="1000" b="1" u="sng" dirty="0">
                <a:solidFill>
                  <a:srgbClr val="262626"/>
                </a:solidFill>
                <a:latin typeface="Calibri" pitchFamily="34" charset="0"/>
                <a:ea typeface="Calibri" pitchFamily="34" charset="-122"/>
                <a:cs typeface="Calibri" pitchFamily="34" charset="-120"/>
              </a:rPr>
              <a:t>Object types:</a:t>
            </a:r>
            <a:endParaRPr lang="en-US" sz="1000" dirty="0"/>
          </a:p>
        </p:txBody>
      </p:sp>
      <p:sp>
        <p:nvSpPr>
          <p:cNvPr id="42" name="Text 40"/>
          <p:cNvSpPr/>
          <p:nvPr/>
        </p:nvSpPr>
        <p:spPr>
          <a:xfrm>
            <a:off x="6766560" y="5321808"/>
            <a:ext cx="1554480" cy="256032"/>
          </a:xfrm>
          <a:prstGeom prst="rect">
            <a:avLst/>
          </a:prstGeom>
          <a:noFill/>
          <a:ln/>
        </p:spPr>
        <p:txBody>
          <a:bodyPr wrap="square" lIns="0" tIns="0" rIns="0" bIns="0" rtlCol="0" anchor="ctr"/>
          <a:lstStyle/>
          <a:p>
            <a:pPr marL="342900" indent="-342900">
              <a:buSzPct val="100000"/>
              <a:buChar char="•"/>
            </a:pPr>
            <a:r>
              <a:rPr lang="en-US" sz="1000" dirty="0">
                <a:solidFill>
                  <a:srgbClr val="262626"/>
                </a:solidFill>
                <a:latin typeface="Calibri" pitchFamily="34" charset="0"/>
                <a:ea typeface="Calibri" pitchFamily="34" charset="-122"/>
                <a:cs typeface="Calibri" pitchFamily="34" charset="-120"/>
              </a:rPr>
              <a:t>region</a:t>
            </a:r>
            <a:endParaRPr lang="en-US" sz="1000" dirty="0"/>
          </a:p>
        </p:txBody>
      </p:sp>
      <p:sp>
        <p:nvSpPr>
          <p:cNvPr id="43" name="Shape 41"/>
          <p:cNvSpPr/>
          <p:nvPr/>
        </p:nvSpPr>
        <p:spPr>
          <a:xfrm>
            <a:off x="5692140" y="5650992"/>
            <a:ext cx="274320" cy="292608"/>
          </a:xfrm>
          <a:prstGeom prst="downArrow">
            <a:avLst/>
          </a:prstGeom>
          <a:solidFill>
            <a:srgbClr val="FFFFFF"/>
          </a:solidFill>
          <a:ln w="9525">
            <a:solidFill>
              <a:srgbClr val="000000"/>
            </a:solidFill>
            <a:prstDash val="solid"/>
          </a:ln>
        </p:spPr>
        <p:txBody>
          <a:bodyPr/>
          <a:lstStyle/>
          <a:p>
            <a:endParaRPr lang="en-US"/>
          </a:p>
        </p:txBody>
      </p:sp>
      <p:sp>
        <p:nvSpPr>
          <p:cNvPr id="44" name="Shape 42"/>
          <p:cNvSpPr/>
          <p:nvPr/>
        </p:nvSpPr>
        <p:spPr>
          <a:xfrm>
            <a:off x="4983480" y="6016752"/>
            <a:ext cx="1691640" cy="384048"/>
          </a:xfrm>
          <a:prstGeom prst="rect">
            <a:avLst/>
          </a:prstGeom>
          <a:solidFill>
            <a:srgbClr val="DAE3F3"/>
          </a:solidFill>
          <a:ln w="9525">
            <a:solidFill>
              <a:srgbClr val="8FAADC"/>
            </a:solidFill>
            <a:prstDash val="solid"/>
          </a:ln>
        </p:spPr>
        <p:txBody>
          <a:bodyPr/>
          <a:lstStyle/>
          <a:p>
            <a:endParaRPr lang="en-US"/>
          </a:p>
        </p:txBody>
      </p:sp>
      <p:sp>
        <p:nvSpPr>
          <p:cNvPr id="45" name="Text 43"/>
          <p:cNvSpPr/>
          <p:nvPr/>
        </p:nvSpPr>
        <p:spPr>
          <a:xfrm>
            <a:off x="4983480" y="6016752"/>
            <a:ext cx="1691640" cy="384048"/>
          </a:xfrm>
          <a:prstGeom prst="rect">
            <a:avLst/>
          </a:prstGeom>
          <a:noFill/>
          <a:ln/>
        </p:spPr>
        <p:txBody>
          <a:bodyPr wrap="square" lIns="0" tIns="0" rIns="0" bIns="0" rtlCol="0" anchor="ctr"/>
          <a:lstStyle/>
          <a:p>
            <a:pPr marL="0" indent="0" algn="ctr">
              <a:buNone/>
            </a:pPr>
            <a:r>
              <a:rPr lang="en-US" sz="1100" dirty="0">
                <a:solidFill>
                  <a:srgbClr val="262626"/>
                </a:solidFill>
                <a:latin typeface="Calibri" pitchFamily="34" charset="0"/>
                <a:ea typeface="Calibri" pitchFamily="34" charset="-122"/>
                <a:cs typeface="Calibri" pitchFamily="34" charset="-120"/>
              </a:rPr>
              <a:t>table( )</a:t>
            </a:r>
            <a:endParaRPr lang="en-US" sz="1100" dirty="0"/>
          </a:p>
        </p:txBody>
      </p:sp>
      <p:sp>
        <p:nvSpPr>
          <p:cNvPr id="46" name="Shape 44"/>
          <p:cNvSpPr/>
          <p:nvPr/>
        </p:nvSpPr>
        <p:spPr>
          <a:xfrm>
            <a:off x="6720840" y="3721608"/>
            <a:ext cx="674747" cy="277636"/>
          </a:xfrm>
          <a:prstGeom prst="rightArrow">
            <a:avLst/>
          </a:prstGeom>
          <a:solidFill>
            <a:srgbClr val="FFFFFF"/>
          </a:solidFill>
          <a:ln w="9525">
            <a:solidFill>
              <a:srgbClr val="000000"/>
            </a:solidFill>
            <a:prstDash val="solid"/>
          </a:ln>
        </p:spPr>
        <p:txBody>
          <a:bodyPr/>
          <a:lstStyle/>
          <a:p>
            <a:endParaRPr lang="en-US"/>
          </a:p>
        </p:txBody>
      </p:sp>
      <p:sp>
        <p:nvSpPr>
          <p:cNvPr id="47" name="Shape 45"/>
          <p:cNvSpPr/>
          <p:nvPr/>
        </p:nvSpPr>
        <p:spPr>
          <a:xfrm>
            <a:off x="7440302" y="3612785"/>
            <a:ext cx="1691640" cy="384048"/>
          </a:xfrm>
          <a:prstGeom prst="rect">
            <a:avLst/>
          </a:prstGeom>
          <a:solidFill>
            <a:srgbClr val="DAE3F3"/>
          </a:solidFill>
          <a:ln w="9525">
            <a:solidFill>
              <a:srgbClr val="8FAADC"/>
            </a:solidFill>
            <a:prstDash val="solid"/>
          </a:ln>
        </p:spPr>
        <p:txBody>
          <a:bodyPr/>
          <a:lstStyle/>
          <a:p>
            <a:endParaRPr lang="en-US"/>
          </a:p>
        </p:txBody>
      </p:sp>
      <p:sp>
        <p:nvSpPr>
          <p:cNvPr id="48" name="Text 46"/>
          <p:cNvSpPr/>
          <p:nvPr/>
        </p:nvSpPr>
        <p:spPr>
          <a:xfrm>
            <a:off x="7470446" y="3602735"/>
            <a:ext cx="1691640" cy="384048"/>
          </a:xfrm>
          <a:prstGeom prst="rect">
            <a:avLst/>
          </a:prstGeom>
          <a:noFill/>
          <a:ln/>
        </p:spPr>
        <p:txBody>
          <a:bodyPr wrap="square" lIns="0" tIns="0" rIns="0" bIns="0" rtlCol="0" anchor="ctr"/>
          <a:lstStyle/>
          <a:p>
            <a:pPr marL="0" indent="0" algn="ctr">
              <a:buNone/>
            </a:pPr>
            <a:r>
              <a:rPr lang="en-US" sz="1000" dirty="0">
                <a:solidFill>
                  <a:srgbClr val="262626"/>
                </a:solidFill>
                <a:latin typeface="Calibri" pitchFamily="34" charset="0"/>
                <a:ea typeface="Calibri" pitchFamily="34" charset="-122"/>
                <a:cs typeface="Calibri" pitchFamily="34" charset="-120"/>
              </a:rPr>
              <a:t>canlab_results_</a:t>
            </a:r>
            <a:endParaRPr lang="en-US" sz="1000" dirty="0"/>
          </a:p>
          <a:p>
            <a:pPr marL="0" indent="0" algn="ctr">
              <a:buNone/>
            </a:pPr>
            <a:r>
              <a:rPr lang="en-US" sz="1000" dirty="0">
                <a:solidFill>
                  <a:srgbClr val="262626"/>
                </a:solidFill>
                <a:latin typeface="Calibri" pitchFamily="34" charset="0"/>
                <a:ea typeface="Calibri" pitchFamily="34" charset="-122"/>
                <a:cs typeface="Calibri" pitchFamily="34" charset="-120"/>
              </a:rPr>
              <a:t>fmridisplay</a:t>
            </a:r>
            <a:endParaRPr lang="en-US" sz="1000" dirty="0"/>
          </a:p>
        </p:txBody>
      </p:sp>
      <p:sp>
        <p:nvSpPr>
          <p:cNvPr id="49" name="Shape 47"/>
          <p:cNvSpPr/>
          <p:nvPr/>
        </p:nvSpPr>
        <p:spPr>
          <a:xfrm>
            <a:off x="8148962" y="4071793"/>
            <a:ext cx="274320" cy="292608"/>
          </a:xfrm>
          <a:prstGeom prst="downArrow">
            <a:avLst/>
          </a:prstGeom>
          <a:solidFill>
            <a:srgbClr val="FFFFFF"/>
          </a:solidFill>
          <a:ln w="9525">
            <a:solidFill>
              <a:srgbClr val="000000"/>
            </a:solidFill>
            <a:prstDash val="solid"/>
          </a:ln>
        </p:spPr>
        <p:txBody>
          <a:bodyPr/>
          <a:lstStyle/>
          <a:p>
            <a:endParaRPr lang="en-US"/>
          </a:p>
        </p:txBody>
      </p:sp>
      <p:sp>
        <p:nvSpPr>
          <p:cNvPr id="50" name="Shape 48"/>
          <p:cNvSpPr/>
          <p:nvPr/>
        </p:nvSpPr>
        <p:spPr>
          <a:xfrm>
            <a:off x="7440302" y="4437553"/>
            <a:ext cx="1691640" cy="384048"/>
          </a:xfrm>
          <a:prstGeom prst="rect">
            <a:avLst/>
          </a:prstGeom>
          <a:solidFill>
            <a:srgbClr val="E2EFD9"/>
          </a:solidFill>
          <a:ln w="9525">
            <a:solidFill>
              <a:srgbClr val="A9D08E"/>
            </a:solidFill>
            <a:prstDash val="solid"/>
          </a:ln>
        </p:spPr>
        <p:txBody>
          <a:bodyPr/>
          <a:lstStyle/>
          <a:p>
            <a:endParaRPr lang="en-US"/>
          </a:p>
        </p:txBody>
      </p:sp>
      <p:sp>
        <p:nvSpPr>
          <p:cNvPr id="51" name="Text 49"/>
          <p:cNvSpPr/>
          <p:nvPr/>
        </p:nvSpPr>
        <p:spPr>
          <a:xfrm>
            <a:off x="7440302" y="4437553"/>
            <a:ext cx="1691640" cy="384048"/>
          </a:xfrm>
          <a:prstGeom prst="rect">
            <a:avLst/>
          </a:prstGeom>
          <a:noFill/>
          <a:ln/>
        </p:spPr>
        <p:txBody>
          <a:bodyPr wrap="square" lIns="0" tIns="0" rIns="0" bIns="0" rtlCol="0" anchor="ctr"/>
          <a:lstStyle/>
          <a:p>
            <a:pPr marL="0" indent="0" algn="ctr">
              <a:buNone/>
            </a:pPr>
            <a:r>
              <a:rPr lang="en-US" sz="1000" i="1" dirty="0">
                <a:solidFill>
                  <a:srgbClr val="262626"/>
                </a:solidFill>
                <a:latin typeface="Cambria" pitchFamily="34" charset="0"/>
                <a:ea typeface="Cambria" pitchFamily="34" charset="-122"/>
                <a:cs typeface="Cambria" pitchFamily="34" charset="-120"/>
              </a:rPr>
              <a:t>fmridisplay</a:t>
            </a:r>
            <a:endParaRPr lang="en-US" sz="1000" dirty="0"/>
          </a:p>
          <a:p>
            <a:pPr marL="0" indent="0" algn="ctr">
              <a:buNone/>
            </a:pPr>
            <a:r>
              <a:rPr lang="en-US" sz="1000" i="1" dirty="0">
                <a:solidFill>
                  <a:srgbClr val="262626"/>
                </a:solidFill>
                <a:latin typeface="Cambria" pitchFamily="34" charset="0"/>
                <a:ea typeface="Cambria" pitchFamily="34" charset="-122"/>
                <a:cs typeface="Cambria" pitchFamily="34" charset="-120"/>
              </a:rPr>
              <a:t>object</a:t>
            </a:r>
            <a:endParaRPr lang="en-US" sz="1000" dirty="0"/>
          </a:p>
        </p:txBody>
      </p:sp>
      <p:sp>
        <p:nvSpPr>
          <p:cNvPr id="52" name="Shape 50"/>
          <p:cNvSpPr/>
          <p:nvPr/>
        </p:nvSpPr>
        <p:spPr>
          <a:xfrm flipV="1">
            <a:off x="8299938" y="4823209"/>
            <a:ext cx="10049" cy="472272"/>
          </a:xfrm>
          <a:prstGeom prst="line">
            <a:avLst/>
          </a:prstGeom>
          <a:noFill/>
          <a:ln w="12700">
            <a:solidFill>
              <a:srgbClr val="4472C4"/>
            </a:solidFill>
            <a:prstDash val="solid"/>
            <a:headEnd type="triangle"/>
            <a:tailEnd type="triangle"/>
          </a:ln>
        </p:spPr>
        <p:txBody>
          <a:bodyPr/>
          <a:lstStyle/>
          <a:p>
            <a:endParaRPr lang="en-US"/>
          </a:p>
        </p:txBody>
      </p:sp>
      <p:sp>
        <p:nvSpPr>
          <p:cNvPr id="53" name="Text 51"/>
          <p:cNvSpPr/>
          <p:nvPr/>
        </p:nvSpPr>
        <p:spPr>
          <a:xfrm>
            <a:off x="7823647" y="4937257"/>
            <a:ext cx="914400" cy="182880"/>
          </a:xfrm>
          <a:prstGeom prst="rect">
            <a:avLst/>
          </a:prstGeom>
          <a:noFill/>
          <a:ln/>
        </p:spPr>
        <p:txBody>
          <a:bodyPr wrap="square" lIns="0" tIns="0" rIns="0" bIns="0" rtlCol="0" anchor="ctr"/>
          <a:lstStyle/>
          <a:p>
            <a:pPr marL="0" indent="0">
              <a:buNone/>
            </a:pPr>
            <a:r>
              <a:rPr lang="en-US" sz="900" i="1" dirty="0">
                <a:solidFill>
                  <a:srgbClr val="262626"/>
                </a:solidFill>
                <a:latin typeface="Cambria" pitchFamily="34" charset="0"/>
                <a:ea typeface="Cambria" pitchFamily="34" charset="-122"/>
                <a:cs typeface="Cambria" pitchFamily="34" charset="-120"/>
              </a:rPr>
              <a:t>handles</a:t>
            </a:r>
            <a:endParaRPr lang="en-US" sz="900" dirty="0"/>
          </a:p>
        </p:txBody>
      </p:sp>
      <p:sp>
        <p:nvSpPr>
          <p:cNvPr id="54" name="Text 52"/>
          <p:cNvSpPr/>
          <p:nvPr/>
        </p:nvSpPr>
        <p:spPr>
          <a:xfrm>
            <a:off x="2866795" y="4598125"/>
            <a:ext cx="1554480" cy="256032"/>
          </a:xfrm>
          <a:prstGeom prst="rect">
            <a:avLst/>
          </a:prstGeom>
          <a:noFill/>
          <a:ln/>
        </p:spPr>
        <p:txBody>
          <a:bodyPr wrap="square" lIns="0" tIns="0" rIns="0" bIns="0" rtlCol="0" anchor="ctr"/>
          <a:lstStyle/>
          <a:p>
            <a:pPr marL="0" indent="0" algn="ctr">
              <a:buNone/>
            </a:pPr>
            <a:r>
              <a:rPr lang="en-US" sz="1300" dirty="0">
                <a:solidFill>
                  <a:srgbClr val="262626"/>
                </a:solidFill>
                <a:latin typeface="Calibri" pitchFamily="34" charset="0"/>
                <a:ea typeface="Calibri" pitchFamily="34" charset="-122"/>
                <a:cs typeface="Calibri" pitchFamily="34" charset="-120"/>
              </a:rPr>
              <a:t>Legend</a:t>
            </a:r>
            <a:endParaRPr lang="en-US" sz="1300" dirty="0"/>
          </a:p>
        </p:txBody>
      </p:sp>
      <p:sp>
        <p:nvSpPr>
          <p:cNvPr id="55" name="Shape 53"/>
          <p:cNvSpPr/>
          <p:nvPr/>
        </p:nvSpPr>
        <p:spPr>
          <a:xfrm>
            <a:off x="2866795" y="4872445"/>
            <a:ext cx="1554480" cy="0"/>
          </a:xfrm>
          <a:prstGeom prst="line">
            <a:avLst/>
          </a:prstGeom>
          <a:noFill/>
          <a:ln w="9525">
            <a:solidFill>
              <a:srgbClr val="BFBFBF"/>
            </a:solidFill>
            <a:prstDash val="dash"/>
          </a:ln>
        </p:spPr>
        <p:txBody>
          <a:bodyPr/>
          <a:lstStyle/>
          <a:p>
            <a:endParaRPr lang="en-US"/>
          </a:p>
        </p:txBody>
      </p:sp>
      <p:sp>
        <p:nvSpPr>
          <p:cNvPr id="56" name="Shape 54"/>
          <p:cNvSpPr/>
          <p:nvPr/>
        </p:nvSpPr>
        <p:spPr>
          <a:xfrm>
            <a:off x="2866795" y="5009605"/>
            <a:ext cx="1554480" cy="274320"/>
          </a:xfrm>
          <a:prstGeom prst="rect">
            <a:avLst/>
          </a:prstGeom>
          <a:solidFill>
            <a:srgbClr val="FFFFFF"/>
          </a:solidFill>
          <a:ln w="12700">
            <a:solidFill>
              <a:srgbClr val="000000"/>
            </a:solidFill>
            <a:prstDash val="solid"/>
          </a:ln>
        </p:spPr>
        <p:txBody>
          <a:bodyPr/>
          <a:lstStyle/>
          <a:p>
            <a:endParaRPr lang="en-US"/>
          </a:p>
        </p:txBody>
      </p:sp>
      <p:sp>
        <p:nvSpPr>
          <p:cNvPr id="57" name="Text 55"/>
          <p:cNvSpPr/>
          <p:nvPr/>
        </p:nvSpPr>
        <p:spPr>
          <a:xfrm>
            <a:off x="2866795" y="5009605"/>
            <a:ext cx="1554480" cy="274320"/>
          </a:xfrm>
          <a:prstGeom prst="rect">
            <a:avLst/>
          </a:prstGeom>
          <a:noFill/>
          <a:ln/>
        </p:spPr>
        <p:txBody>
          <a:bodyPr wrap="square" lIns="0" tIns="0" rIns="0" bIns="0" rtlCol="0" anchor="ctr"/>
          <a:lstStyle/>
          <a:p>
            <a:pPr marL="0" indent="0" algn="ctr">
              <a:buNone/>
            </a:pPr>
            <a:r>
              <a:rPr lang="en-US" sz="1000" dirty="0">
                <a:solidFill>
                  <a:srgbClr val="262626"/>
                </a:solidFill>
                <a:latin typeface="Calibri" pitchFamily="34" charset="0"/>
                <a:ea typeface="Calibri" pitchFamily="34" charset="-122"/>
                <a:cs typeface="Calibri" pitchFamily="34" charset="-120"/>
              </a:rPr>
              <a:t>Custom scripts</a:t>
            </a:r>
            <a:endParaRPr lang="en-US" sz="1000" dirty="0"/>
          </a:p>
        </p:txBody>
      </p:sp>
      <p:sp>
        <p:nvSpPr>
          <p:cNvPr id="58" name="Shape 56"/>
          <p:cNvSpPr/>
          <p:nvPr/>
        </p:nvSpPr>
        <p:spPr>
          <a:xfrm>
            <a:off x="2866795" y="5375365"/>
            <a:ext cx="1554480" cy="274320"/>
          </a:xfrm>
          <a:prstGeom prst="rect">
            <a:avLst/>
          </a:prstGeom>
          <a:solidFill>
            <a:srgbClr val="DAE3F3"/>
          </a:solidFill>
          <a:ln w="9525">
            <a:solidFill>
              <a:srgbClr val="8FAADC"/>
            </a:solidFill>
            <a:prstDash val="solid"/>
          </a:ln>
        </p:spPr>
        <p:txBody>
          <a:bodyPr/>
          <a:lstStyle/>
          <a:p>
            <a:endParaRPr lang="en-US"/>
          </a:p>
        </p:txBody>
      </p:sp>
      <p:sp>
        <p:nvSpPr>
          <p:cNvPr id="59" name="Text 57"/>
          <p:cNvSpPr/>
          <p:nvPr/>
        </p:nvSpPr>
        <p:spPr>
          <a:xfrm>
            <a:off x="2866795" y="5375365"/>
            <a:ext cx="1554480" cy="274320"/>
          </a:xfrm>
          <a:prstGeom prst="rect">
            <a:avLst/>
          </a:prstGeom>
          <a:noFill/>
          <a:ln/>
        </p:spPr>
        <p:txBody>
          <a:bodyPr wrap="square" lIns="0" tIns="0" rIns="0" bIns="0" rtlCol="0" anchor="ctr"/>
          <a:lstStyle/>
          <a:p>
            <a:pPr marL="0" indent="0" algn="ctr">
              <a:buNone/>
            </a:pPr>
            <a:r>
              <a:rPr lang="en-US" sz="1000" dirty="0">
                <a:solidFill>
                  <a:srgbClr val="262626"/>
                </a:solidFill>
                <a:latin typeface="Calibri" pitchFamily="34" charset="0"/>
                <a:ea typeface="Calibri" pitchFamily="34" charset="-122"/>
                <a:cs typeface="Calibri" pitchFamily="34" charset="-120"/>
              </a:rPr>
              <a:t>CANlab Core functions</a:t>
            </a:r>
            <a:endParaRPr lang="en-US" sz="1000" dirty="0"/>
          </a:p>
        </p:txBody>
      </p:sp>
      <p:sp>
        <p:nvSpPr>
          <p:cNvPr id="60" name="Shape 58"/>
          <p:cNvSpPr/>
          <p:nvPr/>
        </p:nvSpPr>
        <p:spPr>
          <a:xfrm>
            <a:off x="2866795" y="5741125"/>
            <a:ext cx="1554480" cy="274320"/>
          </a:xfrm>
          <a:prstGeom prst="rect">
            <a:avLst/>
          </a:prstGeom>
          <a:solidFill>
            <a:srgbClr val="E2EFD9"/>
          </a:solidFill>
          <a:ln w="9525">
            <a:solidFill>
              <a:srgbClr val="A9D08E"/>
            </a:solidFill>
            <a:prstDash val="solid"/>
          </a:ln>
        </p:spPr>
        <p:txBody>
          <a:bodyPr/>
          <a:lstStyle/>
          <a:p>
            <a:endParaRPr lang="en-US"/>
          </a:p>
        </p:txBody>
      </p:sp>
      <p:sp>
        <p:nvSpPr>
          <p:cNvPr id="61" name="Text 59"/>
          <p:cNvSpPr/>
          <p:nvPr/>
        </p:nvSpPr>
        <p:spPr>
          <a:xfrm>
            <a:off x="2866795" y="5741125"/>
            <a:ext cx="1554480" cy="274320"/>
          </a:xfrm>
          <a:prstGeom prst="rect">
            <a:avLst/>
          </a:prstGeom>
          <a:noFill/>
          <a:ln/>
        </p:spPr>
        <p:txBody>
          <a:bodyPr wrap="square" lIns="0" tIns="0" rIns="0" bIns="0" rtlCol="0" anchor="ctr"/>
          <a:lstStyle/>
          <a:p>
            <a:pPr marL="0" indent="0" algn="ctr">
              <a:buNone/>
            </a:pPr>
            <a:r>
              <a:rPr lang="en-US" sz="1000" dirty="0">
                <a:solidFill>
                  <a:srgbClr val="262626"/>
                </a:solidFill>
                <a:latin typeface="Calibri" pitchFamily="34" charset="0"/>
                <a:ea typeface="Calibri" pitchFamily="34" charset="-122"/>
                <a:cs typeface="Calibri" pitchFamily="34" charset="-120"/>
              </a:rPr>
              <a:t>Key variables</a:t>
            </a:r>
            <a:endParaRPr lang="en-US" sz="1000" dirty="0"/>
          </a:p>
        </p:txBody>
      </p:sp>
      <p:sp>
        <p:nvSpPr>
          <p:cNvPr id="62" name="Shape 60"/>
          <p:cNvSpPr/>
          <p:nvPr/>
        </p:nvSpPr>
        <p:spPr>
          <a:xfrm>
            <a:off x="2866795" y="6106885"/>
            <a:ext cx="1554480" cy="274320"/>
          </a:xfrm>
          <a:prstGeom prst="rect">
            <a:avLst/>
          </a:prstGeom>
          <a:solidFill>
            <a:srgbClr val="FCE5BF"/>
          </a:solidFill>
          <a:ln w="9525">
            <a:solidFill>
              <a:srgbClr val="E8B96B"/>
            </a:solidFill>
            <a:prstDash val="solid"/>
          </a:ln>
        </p:spPr>
        <p:txBody>
          <a:bodyPr/>
          <a:lstStyle/>
          <a:p>
            <a:endParaRPr lang="en-US"/>
          </a:p>
        </p:txBody>
      </p:sp>
      <p:sp>
        <p:nvSpPr>
          <p:cNvPr id="63" name="Text 61"/>
          <p:cNvSpPr/>
          <p:nvPr/>
        </p:nvSpPr>
        <p:spPr>
          <a:xfrm>
            <a:off x="2866795" y="6106885"/>
            <a:ext cx="1554480" cy="274320"/>
          </a:xfrm>
          <a:prstGeom prst="rect">
            <a:avLst/>
          </a:prstGeom>
          <a:noFill/>
          <a:ln/>
        </p:spPr>
        <p:txBody>
          <a:bodyPr wrap="square" lIns="0" tIns="0" rIns="0" bIns="0" rtlCol="0" anchor="ctr"/>
          <a:lstStyle/>
          <a:p>
            <a:pPr marL="0" indent="0" algn="ctr">
              <a:buNone/>
            </a:pPr>
            <a:r>
              <a:rPr lang="en-US" sz="1000" dirty="0">
                <a:solidFill>
                  <a:srgbClr val="262626"/>
                </a:solidFill>
                <a:latin typeface="Calibri" pitchFamily="34" charset="0"/>
                <a:ea typeface="Calibri" pitchFamily="34" charset="-122"/>
                <a:cs typeface="Calibri" pitchFamily="34" charset="-120"/>
              </a:rPr>
              <a:t>Files</a:t>
            </a:r>
            <a:endParaRPr lang="en-US" sz="1000" dirty="0"/>
          </a:p>
        </p:txBody>
      </p:sp>
      <p:sp>
        <p:nvSpPr>
          <p:cNvPr id="64" name="Text 55">
            <a:extLst>
              <a:ext uri="{FF2B5EF4-FFF2-40B4-BE49-F238E27FC236}">
                <a16:creationId xmlns:a16="http://schemas.microsoft.com/office/drawing/2014/main" id="{8D0B974C-1DA0-0CF8-D945-3471D52057C8}"/>
              </a:ext>
            </a:extLst>
          </p:cNvPr>
          <p:cNvSpPr/>
          <p:nvPr/>
        </p:nvSpPr>
        <p:spPr>
          <a:xfrm>
            <a:off x="7543800" y="5334000"/>
            <a:ext cx="1554480" cy="274320"/>
          </a:xfrm>
          <a:prstGeom prst="rect">
            <a:avLst/>
          </a:prstGeom>
          <a:noFill/>
          <a:ln/>
        </p:spPr>
        <p:txBody>
          <a:bodyPr wrap="square" lIns="0" tIns="0" rIns="0" bIns="0" rtlCol="0" anchor="ctr"/>
          <a:lstStyle/>
          <a:p>
            <a:pPr marL="0" indent="0" algn="ctr">
              <a:buNone/>
            </a:pPr>
            <a:r>
              <a:rPr lang="en-US" sz="1000" dirty="0">
                <a:solidFill>
                  <a:srgbClr val="262626"/>
                </a:solidFill>
                <a:latin typeface="Calibri" pitchFamily="34" charset="0"/>
                <a:ea typeface="Calibri" pitchFamily="34" charset="-122"/>
                <a:cs typeface="Calibri" pitchFamily="34" charset="-120"/>
              </a:rPr>
              <a:t>Script to control additional displays/reuse/additions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659</Words>
  <Application>Microsoft Macintosh PowerPoint</Application>
  <PresentationFormat>Widescreen</PresentationFormat>
  <Paragraphs>73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Cambria</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CANlab code map: fmri_data.regress</dc:title>
  <dc:subject>PptxGenJS Presentation</dc:subject>
  <dc:creator>PptxGenJS</dc:creator>
  <cp:lastModifiedBy>Tor D. Wager</cp:lastModifiedBy>
  <cp:revision>9</cp:revision>
  <dcterms:created xsi:type="dcterms:W3CDTF">2026-05-05T00:17:40Z</dcterms:created>
  <dcterms:modified xsi:type="dcterms:W3CDTF">2026-05-05T01:38:25Z</dcterms:modified>
</cp:coreProperties>
</file>