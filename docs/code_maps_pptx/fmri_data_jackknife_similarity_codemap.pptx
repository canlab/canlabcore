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0" y="137160"/>
            <a:ext cx="685800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2200" b="1">
                <a:solidFill>
                  <a:srgbClr val="262626"/>
                </a:solidFill>
                <a:latin typeface="Calibri"/>
              </a:rPr>
              <a:t>CANlab code map: fmri_data.jackknife_similarity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566928"/>
            <a:ext cx="640080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100" b="0">
                <a:solidFill>
                  <a:srgbClr val="262626"/>
                </a:solidFill>
                <a:latin typeface="Calibri"/>
              </a:rPr>
              <a:t>For each image j, compute similarity between image j and the voxelwise median of the remaining N-1.</a:t>
            </a:r>
          </a:p>
          <a:p>
            <a:pPr algn="ctr"/>
            <a:r>
              <a:rPr sz="1100" b="0">
                <a:solidFill>
                  <a:srgbClr val="262626"/>
                </a:solidFill>
                <a:latin typeface="Calibri"/>
              </a:rPr>
              <a:t>Yields a robust per-image agreement score with the dataset's central tendency.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9456" y="530352"/>
            <a:ext cx="54864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200" b="1">
                <a:solidFill>
                  <a:srgbClr val="262626"/>
                </a:solidFill>
                <a:latin typeface="Calibri"/>
              </a:rPr>
              <a:t>Use: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786384"/>
            <a:ext cx="2331720" cy="24231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>Pass an image_vector / fmri_data with multiple images, or a numeric [voxels × images] matrix.</a:t>
            </a:r>
          </a:p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/>
            </a:r>
          </a:p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>Choose 'similarity_metric': 'correlation', 'cosine_similarity', 'dot_product', 'euclidean'.</a:t>
            </a:r>
          </a:p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/>
            </a:r>
          </a:p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>low_agreement returns indices of images falling below an automatic threshold — useful for QC.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7744" y="3108960"/>
            <a:ext cx="640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200" b="1">
                <a:solidFill>
                  <a:srgbClr val="262626"/>
                </a:solidFill>
                <a:latin typeface="Calibri"/>
              </a:rPr>
              <a:t>Notes: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744" y="3364991"/>
            <a:ext cx="1920240" cy="1371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>Missing-data handling follows canlab_compute_similarity_matrix conventions (zeros treated as missing in data).</a:t>
            </a:r>
          </a:p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/>
            </a:r>
          </a:p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>Median reference (rather than mean) keeps the metric robust to outlier images.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4846320"/>
            <a:ext cx="128016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200" b="1">
                <a:solidFill>
                  <a:srgbClr val="262626"/>
                </a:solidFill>
                <a:latin typeface="Calibri"/>
              </a:rPr>
              <a:t>Legend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5120640"/>
            <a:ext cx="182880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36576" tIns="18288" bIns="18288"/>
          <a:lstStyle/>
          <a:p>
            <a:pPr algn="l"/>
            <a:r>
              <a:rPr sz="1000">
                <a:solidFill>
                  <a:srgbClr val="262626"/>
                </a:solidFill>
                <a:latin typeface="Calibri"/>
              </a:rPr>
              <a:t>Custom scripts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5376672"/>
            <a:ext cx="1828800" cy="219456"/>
          </a:xfrm>
          <a:prstGeom prst="rect">
            <a:avLst/>
          </a:prstGeom>
          <a:solidFill>
            <a:srgbClr val="DAE3F3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36576" tIns="18288" bIns="18288"/>
          <a:lstStyle/>
          <a:p>
            <a:pPr algn="l"/>
            <a:r>
              <a:rPr sz="1000">
                <a:solidFill>
                  <a:srgbClr val="262626"/>
                </a:solidFill>
                <a:latin typeface="Calibri"/>
              </a:rPr>
              <a:t>CANlab Core functions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5632704"/>
            <a:ext cx="1828800" cy="219456"/>
          </a:xfrm>
          <a:prstGeom prst="rect">
            <a:avLst/>
          </a:prstGeom>
          <a:solidFill>
            <a:srgbClr val="E2EFD9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36576" tIns="18288" bIns="18288"/>
          <a:lstStyle/>
          <a:p>
            <a:pPr algn="l"/>
            <a:r>
              <a:rPr sz="1000">
                <a:solidFill>
                  <a:srgbClr val="262626"/>
                </a:solidFill>
                <a:latin typeface="Calibri"/>
              </a:rPr>
              <a:t>Key variables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5888736"/>
            <a:ext cx="1828800" cy="219456"/>
          </a:xfrm>
          <a:prstGeom prst="rect">
            <a:avLst/>
          </a:prstGeom>
          <a:solidFill>
            <a:srgbClr val="FCE5BF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36576" tIns="18288" bIns="18288"/>
          <a:lstStyle/>
          <a:p>
            <a:pPr algn="l"/>
            <a:r>
              <a:rPr sz="1000">
                <a:solidFill>
                  <a:srgbClr val="262626"/>
                </a:solidFill>
                <a:latin typeface="Calibri"/>
              </a:rPr>
              <a:t>Files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63440" y="1097280"/>
            <a:ext cx="1691640" cy="594360"/>
          </a:xfrm>
          <a:prstGeom prst="rect">
            <a:avLst/>
          </a:prstGeom>
          <a:solidFill>
            <a:srgbClr val="E2EFD9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100" b="0">
                <a:solidFill>
                  <a:srgbClr val="262626"/>
                </a:solidFill>
                <a:latin typeface="Cambria"/>
              </a:rPr>
              <a:t>obj.dat
(voxels × images)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63440" y="1874519"/>
            <a:ext cx="1691640" cy="594360"/>
          </a:xfrm>
          <a:prstGeom prst="rect">
            <a:avLst/>
          </a:prstGeom>
          <a:solidFill>
            <a:srgbClr val="DAE3F3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100" b="1">
                <a:solidFill>
                  <a:srgbClr val="262626"/>
                </a:solidFill>
                <a:latin typeface="Calibri"/>
              </a:rPr>
              <a:t>jackknife_similarity( )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5372099" y="1737360"/>
            <a:ext cx="274320" cy="164592"/>
          </a:xfrm>
          <a:prstGeom prst="downArrow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663440" y="2651760"/>
            <a:ext cx="1691640" cy="594360"/>
          </a:xfrm>
          <a:prstGeom prst="rect">
            <a:avLst/>
          </a:prstGeom>
          <a:solidFill>
            <a:srgbClr val="DAE3F3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100" b="0">
                <a:solidFill>
                  <a:srgbClr val="262626"/>
                </a:solidFill>
                <a:latin typeface="Calibri"/>
              </a:rPr>
              <a:t>for j = 1..N:
ref_j = median(dat[:, ~j])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5372099" y="2514599"/>
            <a:ext cx="274320" cy="164592"/>
          </a:xfrm>
          <a:prstGeom prst="downArrow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663440" y="3429000"/>
            <a:ext cx="1691640" cy="594360"/>
          </a:xfrm>
          <a:prstGeom prst="rect">
            <a:avLst/>
          </a:prstGeom>
          <a:solidFill>
            <a:srgbClr val="DAE3F3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100" b="0">
                <a:solidFill>
                  <a:srgbClr val="262626"/>
                </a:solidFill>
                <a:latin typeface="Calibri"/>
              </a:rPr>
              <a:t>canlab_compute_similarity_matrix
(per metric)</a:t>
            </a:r>
          </a:p>
        </p:txBody>
      </p:sp>
      <p:sp>
        <p:nvSpPr>
          <p:cNvPr id="19" name="Down Arrow 18"/>
          <p:cNvSpPr/>
          <p:nvPr/>
        </p:nvSpPr>
        <p:spPr>
          <a:xfrm>
            <a:off x="5372099" y="3291839"/>
            <a:ext cx="274320" cy="164592"/>
          </a:xfrm>
          <a:prstGeom prst="downArrow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645919" y="4297679"/>
            <a:ext cx="2011680" cy="594360"/>
          </a:xfrm>
          <a:prstGeom prst="rect">
            <a:avLst/>
          </a:prstGeom>
          <a:solidFill>
            <a:srgbClr val="E2EFD9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100" b="0">
                <a:solidFill>
                  <a:srgbClr val="262626"/>
                </a:solidFill>
                <a:latin typeface="Cambria"/>
              </a:rPr>
              <a:t>sim_values
[N × 1]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86200" y="4297679"/>
            <a:ext cx="2194560" cy="594360"/>
          </a:xfrm>
          <a:prstGeom prst="rect">
            <a:avLst/>
          </a:prstGeom>
          <a:solidFill>
            <a:srgbClr val="E2EFD9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100" b="0">
                <a:solidFill>
                  <a:srgbClr val="262626"/>
                </a:solidFill>
                <a:latin typeface="Cambria"/>
              </a:rPr>
              <a:t>d (effect size
vs. permutation)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59" y="4297679"/>
            <a:ext cx="2011680" cy="594360"/>
          </a:xfrm>
          <a:prstGeom prst="rect">
            <a:avLst/>
          </a:prstGeom>
          <a:solidFill>
            <a:srgbClr val="E2EFD9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100" b="0">
                <a:solidFill>
                  <a:srgbClr val="262626"/>
                </a:solidFill>
                <a:latin typeface="Cambria"/>
              </a:rPr>
              <a:t>low_agreement
(indices)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03920" y="4297679"/>
            <a:ext cx="1828800" cy="594360"/>
          </a:xfrm>
          <a:prstGeom prst="rect">
            <a:avLst/>
          </a:prstGeom>
          <a:solidFill>
            <a:srgbClr val="E2EFD9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100" b="0">
                <a:solidFill>
                  <a:srgbClr val="262626"/>
                </a:solidFill>
                <a:latin typeface="Cambria"/>
              </a:rPr>
              <a:t>Nvox
(per pair)</a:t>
            </a:r>
          </a:p>
        </p:txBody>
      </p:sp>
      <p:cxnSp>
        <p:nvCxnSpPr>
          <p:cNvPr id="24" name="Connector 23"/>
          <p:cNvCxnSpPr/>
          <p:nvPr/>
        </p:nvCxnSpPr>
        <p:spPr>
          <a:xfrm flipH="1">
            <a:off x="2688168" y="4026855"/>
            <a:ext cx="2784683" cy="267329"/>
          </a:xfrm>
          <a:prstGeom prst="line">
            <a:avLst/>
          </a:prstGeom>
          <a:ln w="15875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5015907" y="4040278"/>
            <a:ext cx="460925" cy="240483"/>
          </a:xfrm>
          <a:prstGeom prst="line">
            <a:avLst/>
          </a:prstGeom>
          <a:ln w="15875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545421" y="4028852"/>
            <a:ext cx="1733617" cy="263335"/>
          </a:xfrm>
          <a:prstGeom prst="line">
            <a:avLst/>
          </a:prstGeom>
          <a:ln w="15875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5545746" y="4025920"/>
            <a:ext cx="3836087" cy="269199"/>
          </a:xfrm>
          <a:prstGeom prst="line">
            <a:avLst/>
          </a:prstGeom>
          <a:ln w="15875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7132320" y="1097280"/>
            <a:ext cx="192024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Calibri"/>
              </a:rPr>
              <a:t>Object types: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0" y="1298448"/>
            <a:ext cx="192024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>
                <a:solidFill>
                  <a:srgbClr val="262626"/>
                </a:solidFill>
                <a:latin typeface="Calibri"/>
              </a:rPr>
              <a:t>fmri_data</a:t>
            </a:r>
          </a:p>
          <a:p>
            <a:pPr algn="l"/>
            <a:r>
              <a:rPr sz="1000" b="0">
                <a:solidFill>
                  <a:srgbClr val="262626"/>
                </a:solidFill>
                <a:latin typeface="Calibri"/>
              </a:rPr>
              <a:t>image_vector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