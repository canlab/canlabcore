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"/>
            <a:ext cx="85039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Calibri"/>
              </a:rPr>
              <a:t>CANlab code map: xval_SVR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566928"/>
            <a:ext cx="640080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Cross-validated support vector regression using fitrsvm. The SVR analogue of xval_SVM —</a:t>
            </a:r>
          </a:p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subject-grouped folds, optional nested CV hyperparameter optimization, bootstrap inference on weights.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530352"/>
            <a:ext cx="5486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262626"/>
                </a:solidFill>
                <a:latin typeface="Calibri"/>
              </a:rPr>
              <a:t>Use: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786384"/>
            <a:ext cx="2331720" cy="24231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S = xval_SVR(X, Y, id, ...).</a:t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X = obs × features, Y = continuous, id groups subjects.</a:t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'doOptimize' true → Bayesian hyperopt (5-fold inner CV).</a:t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'doRepeats', N → repeat outer CV with new splits.</a:t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'highdimensional' true → fitrlinear (voxel-scale).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" y="3337560"/>
            <a:ext cx="6400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262626"/>
                </a:solidFill>
                <a:latin typeface="Calibri"/>
              </a:rPr>
              <a:t>Notes: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" y="3593591"/>
            <a:ext cx="1920240" cy="1417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Linear regressors only; nonlinear hooks are commented out.</a:t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Hyperopt + repeated CV = nested CV. Slow but unbiased.</a:t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/>
            </a:r>
          </a:p>
          <a:p>
            <a:pPr algn="l"/>
            <a:r>
              <a:rPr sz="1050" b="0">
                <a:solidFill>
                  <a:srgbClr val="262626"/>
                </a:solidFill>
                <a:latin typeface="Calibri"/>
              </a:rPr>
              <a:t>MSE for loss; correlation(Y, yfit) is the headline accuracy.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5120640"/>
            <a:ext cx="128016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>
                <a:solidFill>
                  <a:srgbClr val="262626"/>
                </a:solidFill>
                <a:latin typeface="Calibri"/>
              </a:rPr>
              <a:t>Legend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394959"/>
            <a:ext cx="182880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18288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Custom scripts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5650992"/>
            <a:ext cx="1828800" cy="219456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18288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CANlab Core functions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5907023"/>
            <a:ext cx="1828800" cy="219456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18288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Key variables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6163055"/>
            <a:ext cx="1828800" cy="219456"/>
          </a:xfrm>
          <a:prstGeom prst="rect">
            <a:avLst/>
          </a:prstGeom>
          <a:solidFill>
            <a:srgbClr val="FCE5B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18288"/>
          <a:lstStyle/>
          <a:p>
            <a:pPr algn="l"/>
            <a:r>
              <a:rPr sz="1000">
                <a:solidFill>
                  <a:srgbClr val="262626"/>
                </a:solidFill>
                <a:latin typeface="Calibri"/>
              </a:rPr>
              <a:t>Files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005840"/>
            <a:ext cx="1691640" cy="457200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mbria"/>
              </a:rPr>
              <a:t>X (obs × features)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600200"/>
            <a:ext cx="1691640" cy="457200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1">
                <a:solidFill>
                  <a:srgbClr val="262626"/>
                </a:solidFill>
                <a:latin typeface="Calibri"/>
              </a:rPr>
              <a:t>xval_SVR( 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097779" y="1508760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0" y="2194560"/>
            <a:ext cx="1691640" cy="457200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stratified holdout
(grouped by id)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097779" y="2103120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2788920"/>
            <a:ext cx="1691640" cy="457200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fit overall model
(sanity-check fit)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097779" y="2697480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120" y="3383280"/>
            <a:ext cx="1691640" cy="457200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(optional) nested CV
hyperparam optimization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5097779" y="3291840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3977639"/>
            <a:ext cx="1691640" cy="457200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fitrsvm per fold
→ yfit, dist_from_hyperplane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097779" y="3886200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0" y="4572000"/>
            <a:ext cx="1691640" cy="457200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(optional) repeat CV
with new splits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5097779" y="4480559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9120" y="5166360"/>
            <a:ext cx="1691640" cy="457200"/>
          </a:xfrm>
          <a:prstGeom prst="rect">
            <a:avLst/>
          </a:prstGeom>
          <a:solidFill>
            <a:srgbClr val="DAE3F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libri"/>
              </a:rPr>
              <a:t>bootstrap weights
→ FDR-corrected P-values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097779" y="5074920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89120" y="5760720"/>
            <a:ext cx="1691640" cy="457200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100" b="0">
                <a:solidFill>
                  <a:srgbClr val="262626"/>
                </a:solidFill>
                <a:latin typeface="Cambria"/>
              </a:rPr>
              <a:t>S struct
(yfit, MSE, r, weights, p-values)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097779" y="5669280"/>
            <a:ext cx="274320" cy="164592"/>
          </a:xfrm>
          <a:prstGeom prst="downArrow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49440" y="1005840"/>
            <a:ext cx="2377440" cy="502920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262626"/>
                </a:solidFill>
                <a:latin typeface="Cambria"/>
              </a:rPr>
              <a:t>Y (continuous outcome)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9440" y="1600200"/>
            <a:ext cx="2377440" cy="502920"/>
          </a:xfrm>
          <a:prstGeom prst="rect">
            <a:avLst/>
          </a:prstGeom>
          <a:solidFill>
            <a:srgbClr val="E2EFD9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262626"/>
                </a:solidFill>
                <a:latin typeface="Cambria"/>
              </a:rPr>
              <a:t>id (subject grouping)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6111316" y="1277402"/>
            <a:ext cx="807567" cy="531295"/>
          </a:xfrm>
          <a:prstGeom prst="line">
            <a:avLst/>
          </a:prstGeom>
          <a:ln w="15875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6117323" y="1829762"/>
            <a:ext cx="795553" cy="20935"/>
          </a:xfrm>
          <a:prstGeom prst="line">
            <a:avLst/>
          </a:prstGeom>
          <a:ln w="15875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949440" y="2286000"/>
            <a:ext cx="23774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/>
          <a:lstStyle/>
          <a:p>
            <a:pPr algn="ctr"/>
            <a:r>
              <a:rPr sz="1000" b="0">
                <a:solidFill>
                  <a:srgbClr val="262626"/>
                </a:solidFill>
                <a:latin typeface="Calibri"/>
              </a:rPr>
              <a:t>scatter + residual plots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6097648" y="2569903"/>
            <a:ext cx="834903" cy="1603893"/>
          </a:xfrm>
          <a:prstGeom prst="line">
            <a:avLst/>
          </a:prstGeom>
          <a:ln w="15875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949440" y="2926080"/>
            <a:ext cx="2286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Calibri"/>
              </a:rPr>
              <a:t>Object types: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127248"/>
            <a:ext cx="228600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262626"/>
                </a:solidFill>
                <a:latin typeface="Calibri"/>
              </a:rPr>
              <a:t>MATLAB struct</a:t>
            </a:r>
          </a:p>
          <a:p>
            <a:pPr algn="l"/>
            <a:r>
              <a:rPr sz="1000" b="0">
                <a:solidFill>
                  <a:srgbClr val="262626"/>
                </a:solidFill>
                <a:latin typeface="Calibri"/>
              </a:rPr>
              <a:t>fitrsvm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