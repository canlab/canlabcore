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0" y="137160"/>
            <a:ext cx="685800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2200" b="1">
                <a:solidFill>
                  <a:srgbClr val="262626"/>
                </a:solidFill>
                <a:latin typeface="Calibri"/>
              </a:rPr>
              <a:t>CANlab code map: xval_SVM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566928"/>
            <a:ext cx="640080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100" b="0">
                <a:solidFill>
                  <a:srgbClr val="262626"/>
                </a:solidFill>
                <a:latin typeface="Calibri"/>
              </a:rPr>
              <a:t>Repeated-measures SVM classification using fitcsvm. Selects subject-grouped stratified folds,</a:t>
            </a:r>
          </a:p>
          <a:p>
            <a:pPr algn="ctr"/>
            <a:r>
              <a:rPr sz="1100" b="0">
                <a:solidFill>
                  <a:srgbClr val="262626"/>
                </a:solidFill>
                <a:latin typeface="Calibri"/>
              </a:rPr>
              <a:t>optionally runs nested CV for hyperparameter optimization, and bootstraps voxel weights with FDR-corrected P-values.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" y="530352"/>
            <a:ext cx="5486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262626"/>
                </a:solidFill>
                <a:latin typeface="Calibri"/>
              </a:rPr>
              <a:t>Use: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786384"/>
            <a:ext cx="2331720" cy="24231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50" b="0">
                <a:solidFill>
                  <a:srgbClr val="262626"/>
                </a:solidFill>
                <a:latin typeface="Calibri"/>
              </a:rPr>
              <a:t>Pass S = xval_SVM(X, Y, id, ...). X is observations × features; Y is the binary outcome; id keeps each subject's images together.</a:t>
            </a:r>
          </a:p>
          <a:p>
            <a:pPr algn="l"/>
            <a:r>
              <a:rPr sz="1050" b="0">
                <a:solidFill>
                  <a:srgbClr val="262626"/>
                </a:solidFill>
                <a:latin typeface="Calibri"/>
              </a:rPr>
              <a:t/>
            </a:r>
          </a:p>
          <a:p>
            <a:pPr algn="l"/>
            <a:r>
              <a:rPr sz="1050" b="0">
                <a:solidFill>
                  <a:srgbClr val="262626"/>
                </a:solidFill>
                <a:latin typeface="Calibri"/>
              </a:rPr>
              <a:t>Toggle 'doOptimize', true for Bayesian hyperparameter optimization (5-fold inner CV).</a:t>
            </a:r>
          </a:p>
          <a:p>
            <a:pPr algn="l"/>
            <a:r>
              <a:rPr sz="1050" b="0">
                <a:solidFill>
                  <a:srgbClr val="262626"/>
                </a:solidFill>
                <a:latin typeface="Calibri"/>
              </a:rPr>
              <a:t/>
            </a:r>
          </a:p>
          <a:p>
            <a:pPr algn="l"/>
            <a:r>
              <a:rPr sz="1050" b="0">
                <a:solidFill>
                  <a:srgbClr val="262626"/>
                </a:solidFill>
                <a:latin typeface="Calibri"/>
              </a:rPr>
              <a:t>'doRepeats', N repeats the outer CV with N random splits to stabilize accuracy estimates.</a:t>
            </a:r>
          </a:p>
          <a:p>
            <a:pPr algn="l"/>
            <a:r>
              <a:rPr sz="1050" b="0">
                <a:solidFill>
                  <a:srgbClr val="262626"/>
                </a:solidFill>
                <a:latin typeface="Calibri"/>
              </a:rPr>
              <a:t/>
            </a:r>
          </a:p>
          <a:p>
            <a:pPr algn="l"/>
            <a:r>
              <a:rPr sz="1050" b="0">
                <a:solidFill>
                  <a:srgbClr val="262626"/>
                </a:solidFill>
                <a:latin typeface="Calibri"/>
              </a:rPr>
              <a:t>'highdimensional', true switches to fitclinear (no hyperopt) for voxel-scale brain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" y="3108960"/>
            <a:ext cx="64008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262626"/>
                </a:solidFill>
                <a:latin typeface="Calibri"/>
              </a:rPr>
              <a:t>Notes: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" y="3364991"/>
            <a:ext cx="1920240" cy="1645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50" b="0">
                <a:solidFill>
                  <a:srgbClr val="262626"/>
                </a:solidFill>
                <a:latin typeface="Calibri"/>
              </a:rPr>
              <a:t>ROC accuracy and single-interval CV accuracy may differ — ROC_plot picks an optimal score threshold.</a:t>
            </a:r>
          </a:p>
          <a:p>
            <a:pPr algn="l"/>
            <a:r>
              <a:rPr sz="1050" b="0">
                <a:solidFill>
                  <a:srgbClr val="262626"/>
                </a:solidFill>
                <a:latin typeface="Calibri"/>
              </a:rPr>
              <a:t/>
            </a:r>
          </a:p>
          <a:p>
            <a:pPr algn="l"/>
            <a:r>
              <a:rPr sz="1050" b="0">
                <a:solidFill>
                  <a:srgbClr val="262626"/>
                </a:solidFill>
                <a:latin typeface="Calibri"/>
              </a:rPr>
              <a:t>Linear classifiers only; nonlinear models exist as commented-out hooks in the source.</a:t>
            </a:r>
          </a:p>
          <a:p>
            <a:pPr algn="l"/>
            <a:r>
              <a:rPr sz="1050" b="0">
                <a:solidFill>
                  <a:srgbClr val="262626"/>
                </a:solidFill>
                <a:latin typeface="Calibri"/>
              </a:rPr>
              <a:t/>
            </a:r>
          </a:p>
          <a:p>
            <a:pPr algn="l"/>
            <a:r>
              <a:rPr sz="1050" b="0">
                <a:solidFill>
                  <a:srgbClr val="262626"/>
                </a:solidFill>
                <a:latin typeface="Calibri"/>
              </a:rPr>
              <a:t>Optimizing hyperparameters AND repeating CV gives nested CV — slow but appropriate for unbiased estimates.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5120640"/>
            <a:ext cx="128016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262626"/>
                </a:solidFill>
                <a:latin typeface="Calibri"/>
              </a:rPr>
              <a:t>Legend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394959"/>
            <a:ext cx="182880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18288"/>
          <a:lstStyle/>
          <a:p>
            <a:pPr algn="l"/>
            <a:r>
              <a:rPr sz="1000">
                <a:solidFill>
                  <a:srgbClr val="262626"/>
                </a:solidFill>
                <a:latin typeface="Calibri"/>
              </a:rPr>
              <a:t>Custom scripts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5650992"/>
            <a:ext cx="1828800" cy="219456"/>
          </a:xfrm>
          <a:prstGeom prst="rect">
            <a:avLst/>
          </a:prstGeom>
          <a:solidFill>
            <a:srgbClr val="DAE3F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18288"/>
          <a:lstStyle/>
          <a:p>
            <a:pPr algn="l"/>
            <a:r>
              <a:rPr sz="1000">
                <a:solidFill>
                  <a:srgbClr val="262626"/>
                </a:solidFill>
                <a:latin typeface="Calibri"/>
              </a:rPr>
              <a:t>CANlab Core functions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5907023"/>
            <a:ext cx="1828800" cy="219456"/>
          </a:xfrm>
          <a:prstGeom prst="rect">
            <a:avLst/>
          </a:prstGeom>
          <a:solidFill>
            <a:srgbClr val="E2EFD9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18288"/>
          <a:lstStyle/>
          <a:p>
            <a:pPr algn="l"/>
            <a:r>
              <a:rPr sz="1000">
                <a:solidFill>
                  <a:srgbClr val="262626"/>
                </a:solidFill>
                <a:latin typeface="Calibri"/>
              </a:rPr>
              <a:t>Key variables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6163055"/>
            <a:ext cx="1828800" cy="219456"/>
          </a:xfrm>
          <a:prstGeom prst="rect">
            <a:avLst/>
          </a:prstGeom>
          <a:solidFill>
            <a:srgbClr val="FCE5B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18288"/>
          <a:lstStyle/>
          <a:p>
            <a:pPr algn="l"/>
            <a:r>
              <a:rPr sz="1000">
                <a:solidFill>
                  <a:srgbClr val="262626"/>
                </a:solidFill>
                <a:latin typeface="Calibri"/>
              </a:rPr>
              <a:t>Files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1005840"/>
            <a:ext cx="1691640" cy="457200"/>
          </a:xfrm>
          <a:prstGeom prst="rect">
            <a:avLst/>
          </a:prstGeom>
          <a:solidFill>
            <a:srgbClr val="E2EFD9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100" b="0">
                <a:solidFill>
                  <a:srgbClr val="262626"/>
                </a:solidFill>
                <a:latin typeface="Cambria"/>
              </a:rPr>
              <a:t>X (obs × features)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600200"/>
            <a:ext cx="1691640" cy="457200"/>
          </a:xfrm>
          <a:prstGeom prst="rect">
            <a:avLst/>
          </a:prstGeom>
          <a:solidFill>
            <a:srgbClr val="DAE3F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100" b="1">
                <a:solidFill>
                  <a:srgbClr val="262626"/>
                </a:solidFill>
                <a:latin typeface="Calibri"/>
              </a:rPr>
              <a:t>xval_SVM( )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097779" y="1508760"/>
            <a:ext cx="274320" cy="164592"/>
          </a:xfrm>
          <a:prstGeom prst="downArrow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120" y="2194560"/>
            <a:ext cx="1691640" cy="457200"/>
          </a:xfrm>
          <a:prstGeom prst="rect">
            <a:avLst/>
          </a:prstGeom>
          <a:solidFill>
            <a:srgbClr val="DAE3F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100" b="0">
                <a:solidFill>
                  <a:srgbClr val="262626"/>
                </a:solidFill>
                <a:latin typeface="Calibri"/>
              </a:rPr>
              <a:t>stratified holdout
(grouped by id)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5097779" y="2103120"/>
            <a:ext cx="274320" cy="164592"/>
          </a:xfrm>
          <a:prstGeom prst="downArrow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120" y="2788920"/>
            <a:ext cx="1691640" cy="457200"/>
          </a:xfrm>
          <a:prstGeom prst="rect">
            <a:avLst/>
          </a:prstGeom>
          <a:solidFill>
            <a:srgbClr val="DAE3F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100" b="0">
                <a:solidFill>
                  <a:srgbClr val="262626"/>
                </a:solidFill>
                <a:latin typeface="Calibri"/>
              </a:rPr>
              <a:t>fit overall model
(sanity-check accuracy)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5097779" y="2697480"/>
            <a:ext cx="274320" cy="164592"/>
          </a:xfrm>
          <a:prstGeom prst="downArrow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120" y="3383280"/>
            <a:ext cx="1691640" cy="457200"/>
          </a:xfrm>
          <a:prstGeom prst="rect">
            <a:avLst/>
          </a:prstGeom>
          <a:solidFill>
            <a:srgbClr val="DAE3F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100" b="0">
                <a:solidFill>
                  <a:srgbClr val="262626"/>
                </a:solidFill>
                <a:latin typeface="Calibri"/>
              </a:rPr>
              <a:t>(optional) nested CV
hyperparam optimization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5097779" y="3291840"/>
            <a:ext cx="274320" cy="164592"/>
          </a:xfrm>
          <a:prstGeom prst="downArrow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120" y="3977639"/>
            <a:ext cx="1691640" cy="457200"/>
          </a:xfrm>
          <a:prstGeom prst="rect">
            <a:avLst/>
          </a:prstGeom>
          <a:solidFill>
            <a:srgbClr val="DAE3F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100" b="0">
                <a:solidFill>
                  <a:srgbClr val="262626"/>
                </a:solidFill>
                <a:latin typeface="Calibri"/>
              </a:rPr>
              <a:t>fitcsvm per fold
→ yfit, scores, probability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5097779" y="3886200"/>
            <a:ext cx="274320" cy="164592"/>
          </a:xfrm>
          <a:prstGeom prst="downArrow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89120" y="4572000"/>
            <a:ext cx="1691640" cy="457200"/>
          </a:xfrm>
          <a:prstGeom prst="rect">
            <a:avLst/>
          </a:prstGeom>
          <a:solidFill>
            <a:srgbClr val="DAE3F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100" b="0">
                <a:solidFill>
                  <a:srgbClr val="262626"/>
                </a:solidFill>
                <a:latin typeface="Calibri"/>
              </a:rPr>
              <a:t>(optional) repeat CV
with new splits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5097779" y="4480559"/>
            <a:ext cx="274320" cy="164592"/>
          </a:xfrm>
          <a:prstGeom prst="downArrow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9120" y="5166360"/>
            <a:ext cx="1691640" cy="457200"/>
          </a:xfrm>
          <a:prstGeom prst="rect">
            <a:avLst/>
          </a:prstGeom>
          <a:solidFill>
            <a:srgbClr val="DAE3F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100" b="0">
                <a:solidFill>
                  <a:srgbClr val="262626"/>
                </a:solidFill>
                <a:latin typeface="Calibri"/>
              </a:rPr>
              <a:t>bootstrap weights
→ FDR-corrected P-values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5097779" y="5074920"/>
            <a:ext cx="274320" cy="164592"/>
          </a:xfrm>
          <a:prstGeom prst="downArrow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89120" y="5760720"/>
            <a:ext cx="1691640" cy="457200"/>
          </a:xfrm>
          <a:prstGeom prst="rect">
            <a:avLst/>
          </a:prstGeom>
          <a:solidFill>
            <a:srgbClr val="E2EFD9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100" b="0">
                <a:solidFill>
                  <a:srgbClr val="262626"/>
                </a:solidFill>
                <a:latin typeface="Cambria"/>
              </a:rPr>
              <a:t>S struct
(yfit, accuracy, weights, p-values)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5097779" y="5669280"/>
            <a:ext cx="274320" cy="164592"/>
          </a:xfrm>
          <a:prstGeom prst="downArrow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49440" y="1005840"/>
            <a:ext cx="2286000" cy="502920"/>
          </a:xfrm>
          <a:prstGeom prst="rect">
            <a:avLst/>
          </a:prstGeom>
          <a:solidFill>
            <a:srgbClr val="E2EFD9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000" b="0">
                <a:solidFill>
                  <a:srgbClr val="262626"/>
                </a:solidFill>
                <a:latin typeface="Cambria"/>
              </a:rPr>
              <a:t>Y (binary outcome)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49440" y="1600200"/>
            <a:ext cx="2286000" cy="502920"/>
          </a:xfrm>
          <a:prstGeom prst="rect">
            <a:avLst/>
          </a:prstGeom>
          <a:solidFill>
            <a:srgbClr val="E2EFD9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000" b="0">
                <a:solidFill>
                  <a:srgbClr val="262626"/>
                </a:solidFill>
                <a:latin typeface="Cambria"/>
              </a:rPr>
              <a:t>id (subject grouping)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6111316" y="1277402"/>
            <a:ext cx="807567" cy="531295"/>
          </a:xfrm>
          <a:prstGeom prst="line">
            <a:avLst/>
          </a:prstGeom>
          <a:ln w="15875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 flipV="1">
            <a:off x="6117323" y="1829762"/>
            <a:ext cx="795553" cy="20935"/>
          </a:xfrm>
          <a:prstGeom prst="line">
            <a:avLst/>
          </a:prstGeom>
          <a:ln w="15875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6949440" y="2286000"/>
            <a:ext cx="22860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000" b="0">
                <a:solidFill>
                  <a:srgbClr val="262626"/>
                </a:solidFill>
                <a:latin typeface="Calibri"/>
              </a:rPr>
              <a:t>score plot + ROC_plot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6097648" y="2569903"/>
            <a:ext cx="834903" cy="1603893"/>
          </a:xfrm>
          <a:prstGeom prst="line">
            <a:avLst/>
          </a:prstGeom>
          <a:ln w="15875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949440" y="2926080"/>
            <a:ext cx="22860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Calibri"/>
              </a:rPr>
              <a:t>Object types: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3127248"/>
            <a:ext cx="22860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00" b="0">
                <a:solidFill>
                  <a:srgbClr val="262626"/>
                </a:solidFill>
                <a:latin typeface="Calibri"/>
              </a:rPr>
              <a:t>MATLAB struct</a:t>
            </a:r>
          </a:p>
          <a:p>
            <a:pPr algn="l"/>
            <a:r>
              <a:rPr sz="1000" b="0">
                <a:solidFill>
                  <a:srgbClr val="262626"/>
                </a:solidFill>
                <a:latin typeface="Calibri"/>
              </a:rPr>
              <a:t>fitcsvm model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