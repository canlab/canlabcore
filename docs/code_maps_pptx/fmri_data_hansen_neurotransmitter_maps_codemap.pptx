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0" y="137160"/>
            <a:ext cx="8503920" cy="4114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1700" b="1">
                <a:solidFill>
                  <a:srgbClr val="262626"/>
                </a:solidFill>
                <a:latin typeface="Calibri"/>
              </a:rPr>
              <a:t>CANlab code map: fmri_data.hansen_neurotransmitter_maps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0" y="566928"/>
            <a:ext cx="6400800" cy="5029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1100" b="0">
                <a:solidFill>
                  <a:srgbClr val="262626"/>
                </a:solidFill>
                <a:latin typeface="Calibri"/>
              </a:rPr>
              <a:t>Compare an fmri_data map to the Hansen et al. 2022 (Nat Neurosci) PET neurotransmitter atlas</a:t>
            </a:r>
          </a:p>
          <a:p>
            <a:pPr algn="ctr"/>
            <a:r>
              <a:rPr sz="1100" b="0">
                <a:solidFill>
                  <a:srgbClr val="262626"/>
                </a:solidFill>
                <a:latin typeface="Calibri"/>
              </a:rPr>
              <a:t>using cosine similarity on gray-matter-masked images. Returns stats, the maps themselves, and plot handles.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9456" y="530352"/>
            <a:ext cx="548640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200" b="1">
                <a:solidFill>
                  <a:srgbClr val="262626"/>
                </a:solidFill>
                <a:latin typeface="Calibri"/>
              </a:rPr>
              <a:t>Use: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8600" y="786384"/>
            <a:ext cx="2331720" cy="242316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050" b="0">
                <a:solidFill>
                  <a:srgbClr val="262626"/>
                </a:solidFill>
                <a:latin typeface="Calibri"/>
              </a:rPr>
              <a:t>Pass an fmri_data with one or more images (a single signature, contrast set, or per-subject maps).</a:t>
            </a:r>
          </a:p>
          <a:p>
            <a:pPr algn="l"/>
            <a:r>
              <a:rPr sz="1050" b="0">
                <a:solidFill>
                  <a:srgbClr val="262626"/>
                </a:solidFill>
                <a:latin typeface="Calibri"/>
              </a:rPr>
              <a:t/>
            </a:r>
          </a:p>
          <a:p>
            <a:pPr algn="l"/>
            <a:r>
              <a:rPr sz="1050" b="0">
                <a:solidFill>
                  <a:srgbClr val="262626"/>
                </a:solidFill>
                <a:latin typeface="Calibri"/>
              </a:rPr>
              <a:t>Use 'compareGroups' + 'group' to test for between-group differences in tracer associations.</a:t>
            </a:r>
          </a:p>
          <a:p>
            <a:pPr algn="l"/>
            <a:r>
              <a:rPr sz="1050" b="0">
                <a:solidFill>
                  <a:srgbClr val="262626"/>
                </a:solidFill>
                <a:latin typeface="Calibri"/>
              </a:rPr>
              <a:t/>
            </a:r>
          </a:p>
          <a:p>
            <a:pPr algn="l"/>
            <a:r>
              <a:rPr sz="1050" b="0">
                <a:solidFill>
                  <a:srgbClr val="262626"/>
                </a:solidFill>
                <a:latin typeface="Calibri"/>
              </a:rPr>
              <a:t>'doAverage' aggregates correlations across input images; 'correlation' switches metric to Pearson 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7744" y="3108960"/>
            <a:ext cx="640080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200" b="1">
                <a:solidFill>
                  <a:srgbClr val="262626"/>
                </a:solidFill>
                <a:latin typeface="Calibri"/>
              </a:rPr>
              <a:t>Notes: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7744" y="3364991"/>
            <a:ext cx="1920240" cy="1371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050" b="0">
                <a:solidFill>
                  <a:srgbClr val="262626"/>
                </a:solidFill>
                <a:latin typeface="Calibri"/>
              </a:rPr>
              <a:t>Internally calls image_similarity_plot with the Hansen mapset and a polar-plot rendering.</a:t>
            </a:r>
          </a:p>
          <a:p>
            <a:pPr algn="l"/>
            <a:r>
              <a:rPr sz="1050" b="0">
                <a:solidFill>
                  <a:srgbClr val="262626"/>
                </a:solidFill>
                <a:latin typeface="Calibri"/>
              </a:rPr>
              <a:t/>
            </a:r>
          </a:p>
          <a:p>
            <a:pPr algn="l"/>
            <a:r>
              <a:rPr sz="1050" b="0">
                <a:solidFill>
                  <a:srgbClr val="262626"/>
                </a:solidFill>
                <a:latin typeface="Calibri"/>
              </a:rPr>
              <a:t>Tracer maps are gray-matter-masked first to avoid spurious correlations driven by background voxels.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4846320"/>
            <a:ext cx="1280160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200" b="1">
                <a:solidFill>
                  <a:srgbClr val="262626"/>
                </a:solidFill>
                <a:latin typeface="Calibri"/>
              </a:rPr>
              <a:t>Legend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5120640"/>
            <a:ext cx="1828800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36576" tIns="18288" bIns="18288"/>
          <a:lstStyle/>
          <a:p>
            <a:pPr algn="l"/>
            <a:r>
              <a:rPr sz="1000">
                <a:solidFill>
                  <a:srgbClr val="262626"/>
                </a:solidFill>
                <a:latin typeface="Calibri"/>
              </a:rPr>
              <a:t>Custom scripts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5376672"/>
            <a:ext cx="1828800" cy="219456"/>
          </a:xfrm>
          <a:prstGeom prst="rect">
            <a:avLst/>
          </a:prstGeom>
          <a:solidFill>
            <a:srgbClr val="DAE3F3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36576" tIns="18288" bIns="18288"/>
          <a:lstStyle/>
          <a:p>
            <a:pPr algn="l"/>
            <a:r>
              <a:rPr sz="1000">
                <a:solidFill>
                  <a:srgbClr val="262626"/>
                </a:solidFill>
                <a:latin typeface="Calibri"/>
              </a:rPr>
              <a:t>CANlab Core functions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5632704"/>
            <a:ext cx="1828800" cy="219456"/>
          </a:xfrm>
          <a:prstGeom prst="rect">
            <a:avLst/>
          </a:prstGeom>
          <a:solidFill>
            <a:srgbClr val="E2EFD9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36576" tIns="18288" bIns="18288"/>
          <a:lstStyle/>
          <a:p>
            <a:pPr algn="l"/>
            <a:r>
              <a:rPr sz="1000">
                <a:solidFill>
                  <a:srgbClr val="262626"/>
                </a:solidFill>
                <a:latin typeface="Calibri"/>
              </a:rPr>
              <a:t>Key variables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5888736"/>
            <a:ext cx="1828800" cy="219456"/>
          </a:xfrm>
          <a:prstGeom prst="rect">
            <a:avLst/>
          </a:prstGeom>
          <a:solidFill>
            <a:srgbClr val="FCE5BF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36576" tIns="18288" bIns="18288"/>
          <a:lstStyle/>
          <a:p>
            <a:pPr algn="l"/>
            <a:r>
              <a:rPr sz="1000">
                <a:solidFill>
                  <a:srgbClr val="262626"/>
                </a:solidFill>
                <a:latin typeface="Calibri"/>
              </a:rPr>
              <a:t>Files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0" y="1097280"/>
            <a:ext cx="1691640" cy="594360"/>
          </a:xfrm>
          <a:prstGeom prst="rect">
            <a:avLst/>
          </a:prstGeom>
          <a:solidFill>
            <a:srgbClr val="E2EFD9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 wrap="square"/>
          <a:lstStyle/>
          <a:p>
            <a:pPr algn="ctr"/>
            <a:r>
              <a:rPr sz="1100" b="0">
                <a:solidFill>
                  <a:srgbClr val="262626"/>
                </a:solidFill>
                <a:latin typeface="Cambria"/>
              </a:rPr>
              <a:t>fmri_data
(map(s) or signature)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0" y="1874519"/>
            <a:ext cx="1691640" cy="594360"/>
          </a:xfrm>
          <a:prstGeom prst="rect">
            <a:avLst/>
          </a:prstGeom>
          <a:solidFill>
            <a:srgbClr val="DAE3F3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 wrap="square"/>
          <a:lstStyle/>
          <a:p>
            <a:pPr algn="ctr"/>
            <a:r>
              <a:rPr sz="1100" b="1">
                <a:solidFill>
                  <a:srgbClr val="262626"/>
                </a:solidFill>
                <a:latin typeface="Calibri"/>
              </a:rPr>
              <a:t>hansen_neurotransmitter_maps( )</a:t>
            </a:r>
          </a:p>
        </p:txBody>
      </p:sp>
      <p:sp>
        <p:nvSpPr>
          <p:cNvPr id="15" name="Down Arrow 14"/>
          <p:cNvSpPr/>
          <p:nvPr/>
        </p:nvSpPr>
        <p:spPr>
          <a:xfrm>
            <a:off x="5280659" y="1737360"/>
            <a:ext cx="274320" cy="164592"/>
          </a:xfrm>
          <a:prstGeom prst="downArrow">
            <a:avLst/>
          </a:prstGeom>
          <a:solidFill>
            <a:srgbClr val="FFFFFF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0" y="2651760"/>
            <a:ext cx="1691640" cy="594360"/>
          </a:xfrm>
          <a:prstGeom prst="rect">
            <a:avLst/>
          </a:prstGeom>
          <a:solidFill>
            <a:srgbClr val="DAE3F3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 wrap="square"/>
          <a:lstStyle/>
          <a:p>
            <a:pPr algn="ctr"/>
            <a:r>
              <a:rPr sz="1100" b="0">
                <a:solidFill>
                  <a:srgbClr val="262626"/>
                </a:solidFill>
                <a:latin typeface="Calibri"/>
              </a:rPr>
              <a:t>image_similarity_plot
(mapset = 'hansen')</a:t>
            </a:r>
          </a:p>
        </p:txBody>
      </p:sp>
      <p:sp>
        <p:nvSpPr>
          <p:cNvPr id="17" name="Down Arrow 16"/>
          <p:cNvSpPr/>
          <p:nvPr/>
        </p:nvSpPr>
        <p:spPr>
          <a:xfrm>
            <a:off x="5280659" y="2514599"/>
            <a:ext cx="274320" cy="164592"/>
          </a:xfrm>
          <a:prstGeom prst="downArrow">
            <a:avLst/>
          </a:prstGeom>
          <a:solidFill>
            <a:srgbClr val="FFFFFF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949440" y="1097280"/>
            <a:ext cx="2286000" cy="594360"/>
          </a:xfrm>
          <a:prstGeom prst="rect">
            <a:avLst/>
          </a:prstGeom>
          <a:solidFill>
            <a:srgbClr val="FCE5BF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 wrap="square"/>
          <a:lstStyle/>
          <a:p>
            <a:pPr algn="ctr"/>
            <a:r>
              <a:rPr sz="1000" b="0">
                <a:solidFill>
                  <a:srgbClr val="262626"/>
                </a:solidFill>
                <a:latin typeface="Calibri"/>
              </a:rPr>
              <a:t>hansen22.mat
(load_image_set)</a:t>
            </a:r>
          </a:p>
        </p:txBody>
      </p:sp>
      <p:cxnSp>
        <p:nvCxnSpPr>
          <p:cNvPr id="19" name="Connector 18"/>
          <p:cNvCxnSpPr/>
          <p:nvPr/>
        </p:nvCxnSpPr>
        <p:spPr>
          <a:xfrm flipH="1">
            <a:off x="6284899" y="1721403"/>
            <a:ext cx="643281" cy="900593"/>
          </a:xfrm>
          <a:prstGeom prst="line">
            <a:avLst/>
          </a:prstGeom>
          <a:ln w="15875">
            <a:solidFill>
              <a:srgbClr val="8080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6949440" y="1828799"/>
            <a:ext cx="2103120" cy="594360"/>
          </a:xfrm>
          <a:prstGeom prst="rect">
            <a:avLst/>
          </a:prstGeom>
          <a:solidFill>
            <a:srgbClr val="E2EFD9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 wrap="square"/>
          <a:lstStyle/>
          <a:p>
            <a:pPr algn="ctr"/>
            <a:r>
              <a:rPr sz="1000" b="0">
                <a:solidFill>
                  <a:srgbClr val="262626"/>
                </a:solidFill>
                <a:latin typeface="Cambria"/>
              </a:rPr>
              <a:t>group
(optional)</a:t>
            </a:r>
          </a:p>
        </p:txBody>
      </p:sp>
      <p:cxnSp>
        <p:nvCxnSpPr>
          <p:cNvPr id="21" name="Connector 20"/>
          <p:cNvCxnSpPr/>
          <p:nvPr/>
        </p:nvCxnSpPr>
        <p:spPr>
          <a:xfrm flipH="1">
            <a:off x="6300134" y="2128412"/>
            <a:ext cx="612811" cy="40855"/>
          </a:xfrm>
          <a:prstGeom prst="line">
            <a:avLst/>
          </a:prstGeom>
          <a:ln w="15875">
            <a:solidFill>
              <a:srgbClr val="8080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2651760" y="3611880"/>
            <a:ext cx="2103120" cy="594360"/>
          </a:xfrm>
          <a:prstGeom prst="rect">
            <a:avLst/>
          </a:prstGeom>
          <a:solidFill>
            <a:srgbClr val="E2EFD9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 wrap="square"/>
          <a:lstStyle/>
          <a:p>
            <a:pPr algn="ctr"/>
            <a:r>
              <a:rPr sz="1100" b="0">
                <a:solidFill>
                  <a:srgbClr val="262626"/>
                </a:solidFill>
                <a:latin typeface="Cambria"/>
              </a:rPr>
              <a:t>stats
(per-tracer assoc)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937760" y="3611880"/>
            <a:ext cx="2103120" cy="594360"/>
          </a:xfrm>
          <a:prstGeom prst="rect">
            <a:avLst/>
          </a:prstGeom>
          <a:solidFill>
            <a:srgbClr val="E2EFD9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 wrap="square"/>
          <a:lstStyle/>
          <a:p>
            <a:pPr algn="ctr"/>
            <a:r>
              <a:rPr sz="1100" b="0">
                <a:solidFill>
                  <a:srgbClr val="262626"/>
                </a:solidFill>
                <a:latin typeface="Cambria"/>
              </a:rPr>
              <a:t>ntmaps
(fmri_data, sorted)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223760" y="3611880"/>
            <a:ext cx="2103120" cy="594360"/>
          </a:xfrm>
          <a:prstGeom prst="rect">
            <a:avLst/>
          </a:prstGeom>
          <a:solidFill>
            <a:srgbClr val="E2EFD9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 wrap="square"/>
          <a:lstStyle/>
          <a:p>
            <a:pPr algn="ctr"/>
            <a:r>
              <a:rPr sz="1100" b="0">
                <a:solidFill>
                  <a:srgbClr val="262626"/>
                </a:solidFill>
                <a:latin typeface="Cambria"/>
              </a:rPr>
              <a:t>hh, hhfill
(plot handles)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509760" y="3611880"/>
            <a:ext cx="2286000" cy="594360"/>
          </a:xfrm>
          <a:prstGeom prst="rect">
            <a:avLst/>
          </a:prstGeom>
          <a:solidFill>
            <a:srgbClr val="E2EFD9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 wrap="square"/>
          <a:lstStyle/>
          <a:p>
            <a:pPr algn="ctr"/>
            <a:r>
              <a:rPr sz="1000" b="0">
                <a:solidFill>
                  <a:srgbClr val="262626"/>
                </a:solidFill>
                <a:latin typeface="Cambria"/>
              </a:rPr>
              <a:t>table_group,
multcomp_group</a:t>
            </a:r>
          </a:p>
        </p:txBody>
      </p:sp>
      <p:cxnSp>
        <p:nvCxnSpPr>
          <p:cNvPr id="26" name="Connector 25"/>
          <p:cNvCxnSpPr/>
          <p:nvPr/>
        </p:nvCxnSpPr>
        <p:spPr>
          <a:xfrm flipH="1">
            <a:off x="3739091" y="3253751"/>
            <a:ext cx="1642957" cy="350497"/>
          </a:xfrm>
          <a:prstGeom prst="line">
            <a:avLst/>
          </a:prstGeom>
          <a:ln w="15875">
            <a:solidFill>
              <a:srgbClr val="8080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5448626" y="3265836"/>
            <a:ext cx="509887" cy="326327"/>
          </a:xfrm>
          <a:prstGeom prst="line">
            <a:avLst/>
          </a:prstGeom>
          <a:ln w="15875">
            <a:solidFill>
              <a:srgbClr val="8080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5454100" y="3250763"/>
            <a:ext cx="2784939" cy="356473"/>
          </a:xfrm>
          <a:prstGeom prst="line">
            <a:avLst/>
          </a:prstGeom>
          <a:ln w="15875">
            <a:solidFill>
              <a:srgbClr val="8080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454307" y="3248669"/>
            <a:ext cx="5161965" cy="360661"/>
          </a:xfrm>
          <a:prstGeom prst="line">
            <a:avLst/>
          </a:prstGeom>
          <a:ln w="15875">
            <a:solidFill>
              <a:srgbClr val="8080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9509760" y="2743200"/>
            <a:ext cx="2103120" cy="2011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000" b="1">
                <a:solidFill>
                  <a:srgbClr val="262626"/>
                </a:solidFill>
                <a:latin typeface="Calibri"/>
              </a:rPr>
              <a:t>Object types: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509760" y="2944368"/>
            <a:ext cx="2103120" cy="4572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000" b="0">
                <a:solidFill>
                  <a:srgbClr val="262626"/>
                </a:solidFill>
                <a:latin typeface="Calibri"/>
              </a:rPr>
              <a:t>fmri_data</a:t>
            </a:r>
          </a:p>
          <a:p>
            <a:pPr algn="l"/>
            <a:r>
              <a:rPr sz="1000" b="0">
                <a:solidFill>
                  <a:srgbClr val="262626"/>
                </a:solidFill>
                <a:latin typeface="Calibri"/>
              </a:rPr>
              <a:t>MATLAB table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